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75" r:id="rId11"/>
    <p:sldId id="265" r:id="rId12"/>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
      <p:font typeface="Montserrat" panose="00000500000000000000" pitchFamily="2" charset="0"/>
      <p:regular r:id="rId16"/>
      <p:bold r:id="rId17"/>
      <p:italic r:id="rId18"/>
      <p:boldItalic r:id="rId19"/>
    </p:embeddedFont>
    <p:embeddedFont>
      <p:font typeface="Montserrat Bold" panose="00000800000000000000" pitchFamily="2"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40261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rafaelrav8770/eventcontrol.git"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63" y="241581"/>
            <a:ext cx="2193321" cy="1574239"/>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14576879" y="177283"/>
            <a:ext cx="3503050" cy="1538377"/>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sp>
        <p:nvSpPr>
          <p:cNvPr id="5" name="TextBox 5"/>
          <p:cNvSpPr txBox="1"/>
          <p:nvPr/>
        </p:nvSpPr>
        <p:spPr>
          <a:xfrm>
            <a:off x="5036284" y="917896"/>
            <a:ext cx="8215432" cy="849314"/>
          </a:xfrm>
          <a:prstGeom prst="rect">
            <a:avLst/>
          </a:prstGeom>
        </p:spPr>
        <p:txBody>
          <a:bodyPr lIns="0" tIns="0" rIns="0" bIns="0" rtlCol="0" anchor="t">
            <a:spAutoFit/>
          </a:bodyPr>
          <a:lstStyle/>
          <a:p>
            <a:pPr algn="ctr">
              <a:lnSpc>
                <a:spcPts val="3437"/>
              </a:lnSpc>
              <a:spcBef>
                <a:spcPct val="0"/>
              </a:spcBef>
            </a:pPr>
            <a:r>
              <a:rPr lang="en-US" sz="2625" b="1">
                <a:solidFill>
                  <a:srgbClr val="000000"/>
                </a:solidFill>
                <a:latin typeface="Montserrat Bold"/>
                <a:ea typeface="Montserrat Bold"/>
                <a:cs typeface="Montserrat Bold"/>
                <a:sym typeface="Montserrat Bold"/>
              </a:rPr>
              <a:t>TECNOLÓGICO NACIONAL DE MÉXICO</a:t>
            </a:r>
          </a:p>
          <a:p>
            <a:pPr algn="ctr">
              <a:lnSpc>
                <a:spcPts val="3437"/>
              </a:lnSpc>
              <a:spcBef>
                <a:spcPct val="0"/>
              </a:spcBef>
            </a:pPr>
            <a:r>
              <a:rPr lang="en-US" sz="2625" b="1">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4145101" y="2180208"/>
            <a:ext cx="9875699" cy="849400"/>
          </a:xfrm>
          <a:prstGeom prst="rect">
            <a:avLst/>
          </a:prstGeom>
        </p:spPr>
        <p:txBody>
          <a:bodyPr wrap="square" lIns="0" tIns="0" rIns="0" bIns="0" rtlCol="0" anchor="t">
            <a:spAutoFit/>
          </a:bodyPr>
          <a:lstStyle/>
          <a:p>
            <a:pPr algn="ctr">
              <a:lnSpc>
                <a:spcPts val="3436"/>
              </a:lnSpc>
              <a:spcBef>
                <a:spcPct val="0"/>
              </a:spcBef>
            </a:pPr>
            <a:r>
              <a:rPr lang="en-US" sz="2625" b="1" dirty="0">
                <a:solidFill>
                  <a:srgbClr val="000000"/>
                </a:solidFill>
                <a:latin typeface="Montserrat Bold"/>
                <a:ea typeface="Montserrat Bold"/>
                <a:cs typeface="Montserrat Bold"/>
                <a:sym typeface="Montserrat Bold"/>
              </a:rPr>
              <a:t>“INGENIERÍA EN SISTEMAS COMPUTACIONALES”</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INGENIERIA EN SOFTWARE</a:t>
            </a:r>
          </a:p>
        </p:txBody>
      </p:sp>
      <p:sp>
        <p:nvSpPr>
          <p:cNvPr id="7" name="TextBox 7"/>
          <p:cNvSpPr txBox="1"/>
          <p:nvPr/>
        </p:nvSpPr>
        <p:spPr>
          <a:xfrm>
            <a:off x="5334000" y="3439183"/>
            <a:ext cx="7703998"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4.3 EJERCICIOS</a:t>
            </a:r>
          </a:p>
        </p:txBody>
      </p:sp>
      <p:sp>
        <p:nvSpPr>
          <p:cNvPr id="8" name="TextBox 8"/>
          <p:cNvSpPr txBox="1"/>
          <p:nvPr/>
        </p:nvSpPr>
        <p:spPr>
          <a:xfrm>
            <a:off x="7848600" y="4698072"/>
            <a:ext cx="2590800"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4145101" y="7223786"/>
            <a:ext cx="10104299"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DOCENTE</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4145101" y="9229725"/>
            <a:ext cx="10226278" cy="420689"/>
          </a:xfrm>
          <a:prstGeom prst="rect">
            <a:avLst/>
          </a:prstGeom>
        </p:spPr>
        <p:txBody>
          <a:bodyPr lIns="0" tIns="0" rIns="0" bIns="0" rtlCol="0" anchor="t">
            <a:spAutoFit/>
          </a:bodyPr>
          <a:lstStyle/>
          <a:p>
            <a:pPr algn="ctr">
              <a:lnSpc>
                <a:spcPts val="3437"/>
              </a:lnSpc>
              <a:spcBef>
                <a:spcPct val="0"/>
              </a:spcBef>
            </a:pPr>
            <a:r>
              <a:rPr lang="en-US" sz="2625" b="1">
                <a:solidFill>
                  <a:srgbClr val="000000"/>
                </a:solidFill>
                <a:latin typeface="Montserrat Bold"/>
                <a:ea typeface="Montserrat Bold"/>
                <a:cs typeface="Montserrat Bold"/>
                <a:sym typeface="Montserrat Bold"/>
              </a:rPr>
              <a:t>05 DE MARZO DE 2026 VENUSTIANO CARRANZA, CHIAPAS</a:t>
            </a:r>
          </a:p>
        </p:txBody>
      </p:sp>
      <p:graphicFrame>
        <p:nvGraphicFramePr>
          <p:cNvPr id="11" name="Tabla 10">
            <a:extLst>
              <a:ext uri="{FF2B5EF4-FFF2-40B4-BE49-F238E27FC236}">
                <a16:creationId xmlns:a16="http://schemas.microsoft.com/office/drawing/2014/main" id="{493798A7-02BE-9218-9169-3149A4245592}"/>
              </a:ext>
            </a:extLst>
          </p:cNvPr>
          <p:cNvGraphicFramePr>
            <a:graphicFrameLocks noGrp="1"/>
          </p:cNvGraphicFramePr>
          <p:nvPr>
            <p:extLst>
              <p:ext uri="{D42A27DB-BD31-4B8C-83A1-F6EECF244321}">
                <p14:modId xmlns:p14="http://schemas.microsoft.com/office/powerpoint/2010/main" val="524166620"/>
              </p:ext>
            </p:extLst>
          </p:nvPr>
        </p:nvGraphicFramePr>
        <p:xfrm>
          <a:off x="5486400" y="5368096"/>
          <a:ext cx="8229600" cy="1005840"/>
        </p:xfrm>
        <a:graphic>
          <a:graphicData uri="http://schemas.openxmlformats.org/drawingml/2006/table">
            <a:tbl>
              <a:tblPr/>
              <a:tblGrid>
                <a:gridCol w="4114800">
                  <a:extLst>
                    <a:ext uri="{9D8B030D-6E8A-4147-A177-3AD203B41FA5}">
                      <a16:colId xmlns:a16="http://schemas.microsoft.com/office/drawing/2014/main" val="1340011051"/>
                    </a:ext>
                  </a:extLst>
                </a:gridCol>
                <a:gridCol w="4114800">
                  <a:extLst>
                    <a:ext uri="{9D8B030D-6E8A-4147-A177-3AD203B41FA5}">
                      <a16:colId xmlns:a16="http://schemas.microsoft.com/office/drawing/2014/main" val="1538685554"/>
                    </a:ext>
                  </a:extLst>
                </a:gridCol>
              </a:tblGrid>
              <a:tr h="502920">
                <a:tc>
                  <a:txBody>
                    <a:bodyPr/>
                    <a:lstStyle/>
                    <a:p>
                      <a:r>
                        <a:rPr lang="es-MX"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2548878"/>
                  </a:ext>
                </a:extLst>
              </a:tr>
              <a:tr h="502920">
                <a:tc>
                  <a:txBody>
                    <a:bodyPr/>
                    <a:lstStyle/>
                    <a:p>
                      <a:r>
                        <a:rPr lang="es-MX" b="1">
                          <a:effectLst/>
                        </a:rPr>
                        <a:t>Amaury Jahaziel Gordillo Hernandez</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dirty="0">
                          <a:effectLst/>
                        </a:rPr>
                        <a:t>231260074</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037671"/>
                  </a:ext>
                </a:extLst>
              </a:tr>
            </a:tbl>
          </a:graphicData>
        </a:graphic>
      </p:graphicFrame>
      <p:sp>
        <p:nvSpPr>
          <p:cNvPr id="12" name="Rectangle 1">
            <a:extLst>
              <a:ext uri="{FF2B5EF4-FFF2-40B4-BE49-F238E27FC236}">
                <a16:creationId xmlns:a16="http://schemas.microsoft.com/office/drawing/2014/main" id="{328145A3-F595-0799-63C6-A3306F07214B}"/>
              </a:ext>
            </a:extLst>
          </p:cNvPr>
          <p:cNvSpPr>
            <a:spLocks noChangeArrowheads="1"/>
          </p:cNvSpPr>
          <p:nvPr/>
        </p:nvSpPr>
        <p:spPr bwMode="auto">
          <a:xfrm>
            <a:off x="5486400" y="536857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8" y="1446009"/>
            <a:ext cx="5637162" cy="825995"/>
          </a:xfrm>
          <a:prstGeom prst="rect">
            <a:avLst/>
          </a:prstGeom>
        </p:spPr>
        <p:txBody>
          <a:bodyPr wrap="square" lIns="0" tIns="0" rIns="0" bIns="0" rtlCol="0" anchor="t">
            <a:spAutoFit/>
          </a:bodyPr>
          <a:lstStyle/>
          <a:p>
            <a:pPr algn="l">
              <a:lnSpc>
                <a:spcPts val="6937"/>
              </a:lnSpc>
            </a:pPr>
            <a:r>
              <a:rPr lang="en-US" sz="5562" b="1" dirty="0" err="1">
                <a:solidFill>
                  <a:srgbClr val="505468"/>
                </a:solidFill>
                <a:latin typeface="Arimo Bold"/>
                <a:ea typeface="Arimo Bold"/>
                <a:cs typeface="Arimo Bold"/>
                <a:sym typeface="Arimo Bold"/>
              </a:rPr>
              <a:t>Introducción</a:t>
            </a:r>
            <a:endParaRPr lang="en-US" sz="5562" b="1" dirty="0">
              <a:solidFill>
                <a:srgbClr val="505468"/>
              </a:solidFill>
              <a:latin typeface="Arimo Bold"/>
              <a:ea typeface="Arimo Bold"/>
              <a:cs typeface="Arimo Bold"/>
              <a:sym typeface="Arimo Bold"/>
            </a:endParaRPr>
          </a:p>
        </p:txBody>
      </p:sp>
      <p:grpSp>
        <p:nvGrpSpPr>
          <p:cNvPr id="3" name="Group 3"/>
          <p:cNvGrpSpPr/>
          <p:nvPr/>
        </p:nvGrpSpPr>
        <p:grpSpPr>
          <a:xfrm>
            <a:off x="987476" y="2951407"/>
            <a:ext cx="5254971" cy="4610843"/>
            <a:chOff x="0" y="0"/>
            <a:chExt cx="7006628" cy="6147791"/>
          </a:xfrm>
        </p:grpSpPr>
        <p:sp>
          <p:nvSpPr>
            <p:cNvPr id="4" name="Freeform 4"/>
            <p:cNvSpPr/>
            <p:nvPr/>
          </p:nvSpPr>
          <p:spPr>
            <a:xfrm>
              <a:off x="6350" y="6350"/>
              <a:ext cx="6993890" cy="6135116"/>
            </a:xfrm>
            <a:custGeom>
              <a:avLst/>
              <a:gdLst/>
              <a:ahLst/>
              <a:cxnLst/>
              <a:rect l="l" t="t" r="r" b="b"/>
              <a:pathLst>
                <a:path w="6993890" h="6135116">
                  <a:moveTo>
                    <a:pt x="0" y="158750"/>
                  </a:moveTo>
                  <a:cubicBezTo>
                    <a:pt x="0" y="71120"/>
                    <a:pt x="71120" y="0"/>
                    <a:pt x="158877" y="0"/>
                  </a:cubicBezTo>
                  <a:lnTo>
                    <a:pt x="6835140" y="0"/>
                  </a:lnTo>
                  <a:cubicBezTo>
                    <a:pt x="6922770" y="0"/>
                    <a:pt x="6993890" y="71120"/>
                    <a:pt x="6993890" y="158750"/>
                  </a:cubicBezTo>
                  <a:lnTo>
                    <a:pt x="6993890" y="5976366"/>
                  </a:lnTo>
                  <a:cubicBezTo>
                    <a:pt x="6993890" y="6063996"/>
                    <a:pt x="6922770" y="6135116"/>
                    <a:pt x="6835013" y="6135116"/>
                  </a:cubicBezTo>
                  <a:lnTo>
                    <a:pt x="158877" y="6135116"/>
                  </a:lnTo>
                  <a:cubicBezTo>
                    <a:pt x="71120" y="6135116"/>
                    <a:pt x="0" y="6063996"/>
                    <a:pt x="0" y="5976366"/>
                  </a:cubicBezTo>
                  <a:close/>
                </a:path>
              </a:pathLst>
            </a:custGeom>
            <a:solidFill>
              <a:srgbClr val="E2E3E9"/>
            </a:solidFill>
          </p:spPr>
        </p:sp>
        <p:sp>
          <p:nvSpPr>
            <p:cNvPr id="5" name="Freeform 5"/>
            <p:cNvSpPr/>
            <p:nvPr/>
          </p:nvSpPr>
          <p:spPr>
            <a:xfrm>
              <a:off x="0" y="0"/>
              <a:ext cx="7006717" cy="6147816"/>
            </a:xfrm>
            <a:custGeom>
              <a:avLst/>
              <a:gdLst/>
              <a:ahLst/>
              <a:cxnLst/>
              <a:rect l="l" t="t" r="r" b="b"/>
              <a:pathLst>
                <a:path w="7006717" h="6147816">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982716"/>
                  </a:lnTo>
                  <a:lnTo>
                    <a:pt x="7000367" y="5982716"/>
                  </a:lnTo>
                  <a:lnTo>
                    <a:pt x="7006717" y="5982716"/>
                  </a:lnTo>
                  <a:cubicBezTo>
                    <a:pt x="7006717" y="6073902"/>
                    <a:pt x="6932803" y="6147816"/>
                    <a:pt x="6841490" y="6147816"/>
                  </a:cubicBezTo>
                  <a:lnTo>
                    <a:pt x="6841490" y="6141466"/>
                  </a:lnTo>
                  <a:lnTo>
                    <a:pt x="6841490" y="6147816"/>
                  </a:lnTo>
                  <a:lnTo>
                    <a:pt x="165227" y="6147816"/>
                  </a:lnTo>
                  <a:lnTo>
                    <a:pt x="165227" y="6141466"/>
                  </a:lnTo>
                  <a:lnTo>
                    <a:pt x="165227" y="6147816"/>
                  </a:lnTo>
                  <a:cubicBezTo>
                    <a:pt x="74041" y="6147816"/>
                    <a:pt x="0" y="6073902"/>
                    <a:pt x="0" y="5982716"/>
                  </a:cubicBezTo>
                  <a:lnTo>
                    <a:pt x="0" y="165100"/>
                  </a:lnTo>
                  <a:lnTo>
                    <a:pt x="6350" y="165100"/>
                  </a:lnTo>
                  <a:lnTo>
                    <a:pt x="0" y="165100"/>
                  </a:lnTo>
                  <a:moveTo>
                    <a:pt x="12700" y="165100"/>
                  </a:moveTo>
                  <a:lnTo>
                    <a:pt x="12700" y="5982716"/>
                  </a:lnTo>
                  <a:lnTo>
                    <a:pt x="6350" y="5982716"/>
                  </a:lnTo>
                  <a:lnTo>
                    <a:pt x="12700" y="5982716"/>
                  </a:lnTo>
                  <a:cubicBezTo>
                    <a:pt x="12700" y="6066917"/>
                    <a:pt x="80899" y="6135116"/>
                    <a:pt x="165227" y="6135116"/>
                  </a:cubicBezTo>
                  <a:lnTo>
                    <a:pt x="6841490" y="6135116"/>
                  </a:lnTo>
                  <a:cubicBezTo>
                    <a:pt x="6925691" y="6135116"/>
                    <a:pt x="6994017" y="6066917"/>
                    <a:pt x="6994017" y="5982716"/>
                  </a:cubicBezTo>
                  <a:lnTo>
                    <a:pt x="6994017" y="165100"/>
                  </a:lnTo>
                  <a:cubicBezTo>
                    <a:pt x="6994017" y="80899"/>
                    <a:pt x="6925818" y="12700"/>
                    <a:pt x="6841490" y="12700"/>
                  </a:cubicBezTo>
                  <a:lnTo>
                    <a:pt x="165227" y="12700"/>
                  </a:lnTo>
                  <a:lnTo>
                    <a:pt x="165227" y="6350"/>
                  </a:lnTo>
                  <a:lnTo>
                    <a:pt x="165227" y="12700"/>
                  </a:lnTo>
                  <a:cubicBezTo>
                    <a:pt x="80899" y="12700"/>
                    <a:pt x="12700" y="80899"/>
                    <a:pt x="12700" y="165100"/>
                  </a:cubicBezTo>
                  <a:close/>
                </a:path>
              </a:pathLst>
            </a:custGeom>
            <a:solidFill>
              <a:srgbClr val="C8C9CF"/>
            </a:solidFill>
          </p:spPr>
        </p:sp>
      </p:grpSp>
      <p:grpSp>
        <p:nvGrpSpPr>
          <p:cNvPr id="6" name="Group 6"/>
          <p:cNvGrpSpPr/>
          <p:nvPr/>
        </p:nvGrpSpPr>
        <p:grpSpPr>
          <a:xfrm>
            <a:off x="1285284" y="3249216"/>
            <a:ext cx="850554" cy="850554"/>
            <a:chOff x="0" y="0"/>
            <a:chExt cx="1134072" cy="1134072"/>
          </a:xfrm>
        </p:grpSpPr>
        <p:sp>
          <p:nvSpPr>
            <p:cNvPr id="7" name="Freeform 7"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3"/>
              <a:stretch>
                <a:fillRect r="3" b="3"/>
              </a:stretch>
            </a:blipFill>
          </p:spPr>
        </p:sp>
      </p:grpSp>
      <p:sp>
        <p:nvSpPr>
          <p:cNvPr id="8" name="Freeform 8" descr="preencoded.png"/>
          <p:cNvSpPr/>
          <p:nvPr/>
        </p:nvSpPr>
        <p:spPr>
          <a:xfrm>
            <a:off x="1519238" y="3483026"/>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4">
              <a:extLst>
                <a:ext uri="{96DAC541-7B7A-43D3-8B79-37D633B846F1}">
                  <asvg:svgBlip xmlns:asvg="http://schemas.microsoft.com/office/drawing/2016/SVG/main" r:embed="rId5"/>
                </a:ext>
              </a:extLst>
            </a:blip>
            <a:stretch>
              <a:fillRect t="-3659" b="-3656"/>
            </a:stretch>
          </a:blipFill>
        </p:spPr>
      </p:sp>
      <p:sp>
        <p:nvSpPr>
          <p:cNvPr id="9" name="TextBox 9"/>
          <p:cNvSpPr txBox="1"/>
          <p:nvPr/>
        </p:nvSpPr>
        <p:spPr>
          <a:xfrm>
            <a:off x="1285284" y="4345191"/>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Pruebas de Software</a:t>
            </a:r>
          </a:p>
        </p:txBody>
      </p:sp>
      <p:sp>
        <p:nvSpPr>
          <p:cNvPr id="10" name="TextBox 10"/>
          <p:cNvSpPr txBox="1"/>
          <p:nvPr/>
        </p:nvSpPr>
        <p:spPr>
          <a:xfrm>
            <a:off x="1285284" y="4891535"/>
            <a:ext cx="4659363" cy="2372916"/>
          </a:xfrm>
          <a:prstGeom prst="rect">
            <a:avLst/>
          </a:prstGeom>
        </p:spPr>
        <p:txBody>
          <a:bodyPr lIns="0" tIns="0" rIns="0" bIns="0" rtlCol="0" anchor="t">
            <a:spAutoFit/>
          </a:bodyPr>
          <a:lstStyle/>
          <a:p>
            <a:pPr algn="l">
              <a:lnSpc>
                <a:spcPts val="3562"/>
              </a:lnSpc>
            </a:pPr>
            <a:r>
              <a:rPr lang="en-US" sz="2187">
                <a:solidFill>
                  <a:srgbClr val="5B5F71"/>
                </a:solidFill>
                <a:latin typeface="Arimo"/>
                <a:ea typeface="Arimo"/>
                <a:cs typeface="Arimo"/>
                <a:sym typeface="Arimo"/>
              </a:rPr>
              <a:t>Verificación y validación del sistema para identificar errores, mejorar calidad y garantizar funcionamiento correcto antes de la implementación en producción</a:t>
            </a:r>
          </a:p>
        </p:txBody>
      </p:sp>
      <p:grpSp>
        <p:nvGrpSpPr>
          <p:cNvPr id="11" name="Group 11"/>
          <p:cNvGrpSpPr/>
          <p:nvPr/>
        </p:nvGrpSpPr>
        <p:grpSpPr>
          <a:xfrm>
            <a:off x="6516443" y="2951407"/>
            <a:ext cx="5254971" cy="4610843"/>
            <a:chOff x="0" y="0"/>
            <a:chExt cx="7006628" cy="6147791"/>
          </a:xfrm>
        </p:grpSpPr>
        <p:sp>
          <p:nvSpPr>
            <p:cNvPr id="12" name="Freeform 12"/>
            <p:cNvSpPr/>
            <p:nvPr/>
          </p:nvSpPr>
          <p:spPr>
            <a:xfrm>
              <a:off x="6350" y="6350"/>
              <a:ext cx="6993890" cy="6135116"/>
            </a:xfrm>
            <a:custGeom>
              <a:avLst/>
              <a:gdLst/>
              <a:ahLst/>
              <a:cxnLst/>
              <a:rect l="l" t="t" r="r" b="b"/>
              <a:pathLst>
                <a:path w="6993890" h="6135116">
                  <a:moveTo>
                    <a:pt x="0" y="158750"/>
                  </a:moveTo>
                  <a:cubicBezTo>
                    <a:pt x="0" y="71120"/>
                    <a:pt x="71120" y="0"/>
                    <a:pt x="158877" y="0"/>
                  </a:cubicBezTo>
                  <a:lnTo>
                    <a:pt x="6835140" y="0"/>
                  </a:lnTo>
                  <a:cubicBezTo>
                    <a:pt x="6922770" y="0"/>
                    <a:pt x="6993890" y="71120"/>
                    <a:pt x="6993890" y="158750"/>
                  </a:cubicBezTo>
                  <a:lnTo>
                    <a:pt x="6993890" y="5976366"/>
                  </a:lnTo>
                  <a:cubicBezTo>
                    <a:pt x="6993890" y="6063996"/>
                    <a:pt x="6922770" y="6135116"/>
                    <a:pt x="6835013" y="6135116"/>
                  </a:cubicBezTo>
                  <a:lnTo>
                    <a:pt x="158877" y="6135116"/>
                  </a:lnTo>
                  <a:cubicBezTo>
                    <a:pt x="71120" y="6135116"/>
                    <a:pt x="0" y="6063996"/>
                    <a:pt x="0" y="5976366"/>
                  </a:cubicBezTo>
                  <a:close/>
                </a:path>
              </a:pathLst>
            </a:custGeom>
            <a:solidFill>
              <a:srgbClr val="E2E3E9"/>
            </a:solidFill>
          </p:spPr>
        </p:sp>
        <p:sp>
          <p:nvSpPr>
            <p:cNvPr id="13" name="Freeform 13"/>
            <p:cNvSpPr/>
            <p:nvPr/>
          </p:nvSpPr>
          <p:spPr>
            <a:xfrm>
              <a:off x="0" y="0"/>
              <a:ext cx="7006717" cy="6147816"/>
            </a:xfrm>
            <a:custGeom>
              <a:avLst/>
              <a:gdLst/>
              <a:ahLst/>
              <a:cxnLst/>
              <a:rect l="l" t="t" r="r" b="b"/>
              <a:pathLst>
                <a:path w="7006717" h="6147816">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982716"/>
                  </a:lnTo>
                  <a:lnTo>
                    <a:pt x="7000367" y="5982716"/>
                  </a:lnTo>
                  <a:lnTo>
                    <a:pt x="7006717" y="5982716"/>
                  </a:lnTo>
                  <a:cubicBezTo>
                    <a:pt x="7006717" y="6073902"/>
                    <a:pt x="6932803" y="6147816"/>
                    <a:pt x="6841490" y="6147816"/>
                  </a:cubicBezTo>
                  <a:lnTo>
                    <a:pt x="6841490" y="6141466"/>
                  </a:lnTo>
                  <a:lnTo>
                    <a:pt x="6841490" y="6147816"/>
                  </a:lnTo>
                  <a:lnTo>
                    <a:pt x="165227" y="6147816"/>
                  </a:lnTo>
                  <a:lnTo>
                    <a:pt x="165227" y="6141466"/>
                  </a:lnTo>
                  <a:lnTo>
                    <a:pt x="165227" y="6147816"/>
                  </a:lnTo>
                  <a:cubicBezTo>
                    <a:pt x="74041" y="6147816"/>
                    <a:pt x="0" y="6073902"/>
                    <a:pt x="0" y="5982716"/>
                  </a:cubicBezTo>
                  <a:lnTo>
                    <a:pt x="0" y="165100"/>
                  </a:lnTo>
                  <a:lnTo>
                    <a:pt x="6350" y="165100"/>
                  </a:lnTo>
                  <a:lnTo>
                    <a:pt x="0" y="165100"/>
                  </a:lnTo>
                  <a:moveTo>
                    <a:pt x="12700" y="165100"/>
                  </a:moveTo>
                  <a:lnTo>
                    <a:pt x="12700" y="5982716"/>
                  </a:lnTo>
                  <a:lnTo>
                    <a:pt x="6350" y="5982716"/>
                  </a:lnTo>
                  <a:lnTo>
                    <a:pt x="12700" y="5982716"/>
                  </a:lnTo>
                  <a:cubicBezTo>
                    <a:pt x="12700" y="6066917"/>
                    <a:pt x="80899" y="6135116"/>
                    <a:pt x="165227" y="6135116"/>
                  </a:cubicBezTo>
                  <a:lnTo>
                    <a:pt x="6841490" y="6135116"/>
                  </a:lnTo>
                  <a:cubicBezTo>
                    <a:pt x="6925691" y="6135116"/>
                    <a:pt x="6994017" y="6066917"/>
                    <a:pt x="6994017" y="5982716"/>
                  </a:cubicBezTo>
                  <a:lnTo>
                    <a:pt x="6994017" y="165100"/>
                  </a:lnTo>
                  <a:cubicBezTo>
                    <a:pt x="6994017" y="80899"/>
                    <a:pt x="6925818" y="12700"/>
                    <a:pt x="6841490" y="12700"/>
                  </a:cubicBezTo>
                  <a:lnTo>
                    <a:pt x="165227" y="12700"/>
                  </a:lnTo>
                  <a:lnTo>
                    <a:pt x="165227" y="6350"/>
                  </a:lnTo>
                  <a:lnTo>
                    <a:pt x="165227" y="12700"/>
                  </a:lnTo>
                  <a:cubicBezTo>
                    <a:pt x="80899" y="12700"/>
                    <a:pt x="12700" y="80899"/>
                    <a:pt x="12700" y="165100"/>
                  </a:cubicBezTo>
                  <a:close/>
                </a:path>
              </a:pathLst>
            </a:custGeom>
            <a:solidFill>
              <a:srgbClr val="C8C9CF"/>
            </a:solidFill>
          </p:spPr>
        </p:sp>
      </p:grpSp>
      <p:grpSp>
        <p:nvGrpSpPr>
          <p:cNvPr id="14" name="Group 14"/>
          <p:cNvGrpSpPr/>
          <p:nvPr/>
        </p:nvGrpSpPr>
        <p:grpSpPr>
          <a:xfrm>
            <a:off x="6814242" y="3249216"/>
            <a:ext cx="850554" cy="850554"/>
            <a:chOff x="0" y="0"/>
            <a:chExt cx="1134072" cy="1134072"/>
          </a:xfrm>
        </p:grpSpPr>
        <p:sp>
          <p:nvSpPr>
            <p:cNvPr id="15" name="Freeform 15"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6"/>
              <a:stretch>
                <a:fillRect r="3" b="3"/>
              </a:stretch>
            </a:blipFill>
          </p:spPr>
        </p:sp>
      </p:grpSp>
      <p:sp>
        <p:nvSpPr>
          <p:cNvPr id="16" name="Freeform 16" descr="preencoded.png"/>
          <p:cNvSpPr/>
          <p:nvPr/>
        </p:nvSpPr>
        <p:spPr>
          <a:xfrm>
            <a:off x="7048205" y="3483026"/>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7">
              <a:extLst>
                <a:ext uri="{96DAC541-7B7A-43D3-8B79-37D633B846F1}">
                  <asvg:svgBlip xmlns:asvg="http://schemas.microsoft.com/office/drawing/2016/SVG/main" r:embed="rId8"/>
                </a:ext>
              </a:extLst>
            </a:blip>
            <a:stretch>
              <a:fillRect t="-37804" b="-37804"/>
            </a:stretch>
          </a:blipFill>
        </p:spPr>
      </p:sp>
      <p:sp>
        <p:nvSpPr>
          <p:cNvPr id="17" name="TextBox 17"/>
          <p:cNvSpPr txBox="1"/>
          <p:nvPr/>
        </p:nvSpPr>
        <p:spPr>
          <a:xfrm>
            <a:off x="6814242" y="4345191"/>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Implantación</a:t>
            </a:r>
          </a:p>
        </p:txBody>
      </p:sp>
      <p:sp>
        <p:nvSpPr>
          <p:cNvPr id="18" name="TextBox 18"/>
          <p:cNvSpPr txBox="1"/>
          <p:nvPr/>
        </p:nvSpPr>
        <p:spPr>
          <a:xfrm>
            <a:off x="6814242" y="4891535"/>
            <a:ext cx="4659363" cy="1919287"/>
          </a:xfrm>
          <a:prstGeom prst="rect">
            <a:avLst/>
          </a:prstGeom>
        </p:spPr>
        <p:txBody>
          <a:bodyPr lIns="0" tIns="0" rIns="0" bIns="0" rtlCol="0" anchor="t">
            <a:spAutoFit/>
          </a:bodyPr>
          <a:lstStyle/>
          <a:p>
            <a:pPr algn="l">
              <a:lnSpc>
                <a:spcPts val="3562"/>
              </a:lnSpc>
            </a:pPr>
            <a:r>
              <a:rPr lang="en-US" sz="2187">
                <a:solidFill>
                  <a:srgbClr val="5B5F71"/>
                </a:solidFill>
                <a:latin typeface="Arimo"/>
                <a:ea typeface="Arimo"/>
                <a:cs typeface="Arimo"/>
                <a:sym typeface="Arimo"/>
              </a:rPr>
              <a:t>Configuración del entorno operativo, migración de datos y validación integral del sistema en condiciones de producción real</a:t>
            </a:r>
          </a:p>
        </p:txBody>
      </p:sp>
      <p:grpSp>
        <p:nvGrpSpPr>
          <p:cNvPr id="19" name="Group 19"/>
          <p:cNvGrpSpPr/>
          <p:nvPr/>
        </p:nvGrpSpPr>
        <p:grpSpPr>
          <a:xfrm>
            <a:off x="12045401" y="2951407"/>
            <a:ext cx="5254971" cy="4610843"/>
            <a:chOff x="0" y="0"/>
            <a:chExt cx="7006628" cy="6147791"/>
          </a:xfrm>
        </p:grpSpPr>
        <p:sp>
          <p:nvSpPr>
            <p:cNvPr id="20" name="Freeform 20"/>
            <p:cNvSpPr/>
            <p:nvPr/>
          </p:nvSpPr>
          <p:spPr>
            <a:xfrm>
              <a:off x="6350" y="6350"/>
              <a:ext cx="6993890" cy="6135116"/>
            </a:xfrm>
            <a:custGeom>
              <a:avLst/>
              <a:gdLst/>
              <a:ahLst/>
              <a:cxnLst/>
              <a:rect l="l" t="t" r="r" b="b"/>
              <a:pathLst>
                <a:path w="6993890" h="6135116">
                  <a:moveTo>
                    <a:pt x="0" y="158750"/>
                  </a:moveTo>
                  <a:cubicBezTo>
                    <a:pt x="0" y="71120"/>
                    <a:pt x="71120" y="0"/>
                    <a:pt x="158877" y="0"/>
                  </a:cubicBezTo>
                  <a:lnTo>
                    <a:pt x="6835140" y="0"/>
                  </a:lnTo>
                  <a:cubicBezTo>
                    <a:pt x="6922770" y="0"/>
                    <a:pt x="6993890" y="71120"/>
                    <a:pt x="6993890" y="158750"/>
                  </a:cubicBezTo>
                  <a:lnTo>
                    <a:pt x="6993890" y="5976366"/>
                  </a:lnTo>
                  <a:cubicBezTo>
                    <a:pt x="6993890" y="6063996"/>
                    <a:pt x="6922770" y="6135116"/>
                    <a:pt x="6835013" y="6135116"/>
                  </a:cubicBezTo>
                  <a:lnTo>
                    <a:pt x="158877" y="6135116"/>
                  </a:lnTo>
                  <a:cubicBezTo>
                    <a:pt x="71120" y="6135116"/>
                    <a:pt x="0" y="6063996"/>
                    <a:pt x="0" y="5976366"/>
                  </a:cubicBezTo>
                  <a:close/>
                </a:path>
              </a:pathLst>
            </a:custGeom>
            <a:solidFill>
              <a:srgbClr val="E2E3E9"/>
            </a:solidFill>
          </p:spPr>
        </p:sp>
        <p:sp>
          <p:nvSpPr>
            <p:cNvPr id="21" name="Freeform 21"/>
            <p:cNvSpPr/>
            <p:nvPr/>
          </p:nvSpPr>
          <p:spPr>
            <a:xfrm>
              <a:off x="0" y="0"/>
              <a:ext cx="7006717" cy="6147816"/>
            </a:xfrm>
            <a:custGeom>
              <a:avLst/>
              <a:gdLst/>
              <a:ahLst/>
              <a:cxnLst/>
              <a:rect l="l" t="t" r="r" b="b"/>
              <a:pathLst>
                <a:path w="7006717" h="6147816">
                  <a:moveTo>
                    <a:pt x="0" y="165100"/>
                  </a:moveTo>
                  <a:cubicBezTo>
                    <a:pt x="0" y="73914"/>
                    <a:pt x="73914" y="0"/>
                    <a:pt x="165227" y="0"/>
                  </a:cubicBezTo>
                  <a:lnTo>
                    <a:pt x="6841490" y="0"/>
                  </a:lnTo>
                  <a:lnTo>
                    <a:pt x="6841490" y="6350"/>
                  </a:lnTo>
                  <a:lnTo>
                    <a:pt x="6841490" y="0"/>
                  </a:lnTo>
                  <a:cubicBezTo>
                    <a:pt x="6932676" y="0"/>
                    <a:pt x="7006717" y="73914"/>
                    <a:pt x="7006717" y="165100"/>
                  </a:cubicBezTo>
                  <a:lnTo>
                    <a:pt x="7000367" y="165100"/>
                  </a:lnTo>
                  <a:lnTo>
                    <a:pt x="7006717" y="165100"/>
                  </a:lnTo>
                  <a:lnTo>
                    <a:pt x="7006717" y="5982716"/>
                  </a:lnTo>
                  <a:lnTo>
                    <a:pt x="7000367" y="5982716"/>
                  </a:lnTo>
                  <a:lnTo>
                    <a:pt x="7006717" y="5982716"/>
                  </a:lnTo>
                  <a:cubicBezTo>
                    <a:pt x="7006717" y="6073902"/>
                    <a:pt x="6932803" y="6147816"/>
                    <a:pt x="6841490" y="6147816"/>
                  </a:cubicBezTo>
                  <a:lnTo>
                    <a:pt x="6841490" y="6141466"/>
                  </a:lnTo>
                  <a:lnTo>
                    <a:pt x="6841490" y="6147816"/>
                  </a:lnTo>
                  <a:lnTo>
                    <a:pt x="165227" y="6147816"/>
                  </a:lnTo>
                  <a:lnTo>
                    <a:pt x="165227" y="6141466"/>
                  </a:lnTo>
                  <a:lnTo>
                    <a:pt x="165227" y="6147816"/>
                  </a:lnTo>
                  <a:cubicBezTo>
                    <a:pt x="74041" y="6147816"/>
                    <a:pt x="0" y="6073902"/>
                    <a:pt x="0" y="5982716"/>
                  </a:cubicBezTo>
                  <a:lnTo>
                    <a:pt x="0" y="165100"/>
                  </a:lnTo>
                  <a:lnTo>
                    <a:pt x="6350" y="165100"/>
                  </a:lnTo>
                  <a:lnTo>
                    <a:pt x="0" y="165100"/>
                  </a:lnTo>
                  <a:moveTo>
                    <a:pt x="12700" y="165100"/>
                  </a:moveTo>
                  <a:lnTo>
                    <a:pt x="12700" y="5982716"/>
                  </a:lnTo>
                  <a:lnTo>
                    <a:pt x="6350" y="5982716"/>
                  </a:lnTo>
                  <a:lnTo>
                    <a:pt x="12700" y="5982716"/>
                  </a:lnTo>
                  <a:cubicBezTo>
                    <a:pt x="12700" y="6066917"/>
                    <a:pt x="80899" y="6135116"/>
                    <a:pt x="165227" y="6135116"/>
                  </a:cubicBezTo>
                  <a:lnTo>
                    <a:pt x="6841490" y="6135116"/>
                  </a:lnTo>
                  <a:cubicBezTo>
                    <a:pt x="6925691" y="6135116"/>
                    <a:pt x="6994017" y="6066917"/>
                    <a:pt x="6994017" y="5982716"/>
                  </a:cubicBezTo>
                  <a:lnTo>
                    <a:pt x="6994017" y="165100"/>
                  </a:lnTo>
                  <a:cubicBezTo>
                    <a:pt x="6994017" y="80899"/>
                    <a:pt x="6925818" y="12700"/>
                    <a:pt x="6841490" y="12700"/>
                  </a:cubicBezTo>
                  <a:lnTo>
                    <a:pt x="165227" y="12700"/>
                  </a:lnTo>
                  <a:lnTo>
                    <a:pt x="165227" y="6350"/>
                  </a:lnTo>
                  <a:lnTo>
                    <a:pt x="165227" y="12700"/>
                  </a:lnTo>
                  <a:cubicBezTo>
                    <a:pt x="80899" y="12700"/>
                    <a:pt x="12700" y="80899"/>
                    <a:pt x="12700" y="165100"/>
                  </a:cubicBezTo>
                  <a:close/>
                </a:path>
              </a:pathLst>
            </a:custGeom>
            <a:solidFill>
              <a:srgbClr val="C8C9CF"/>
            </a:solidFill>
          </p:spPr>
        </p:sp>
      </p:grpSp>
      <p:grpSp>
        <p:nvGrpSpPr>
          <p:cNvPr id="22" name="Group 22"/>
          <p:cNvGrpSpPr/>
          <p:nvPr/>
        </p:nvGrpSpPr>
        <p:grpSpPr>
          <a:xfrm>
            <a:off x="12343209" y="3249216"/>
            <a:ext cx="850554" cy="850554"/>
            <a:chOff x="0" y="0"/>
            <a:chExt cx="1134072" cy="1134072"/>
          </a:xfrm>
        </p:grpSpPr>
        <p:sp>
          <p:nvSpPr>
            <p:cNvPr id="23" name="Freeform 23"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9"/>
              <a:stretch>
                <a:fillRect r="3" b="3"/>
              </a:stretch>
            </a:blipFill>
          </p:spPr>
        </p:sp>
      </p:grpSp>
      <p:sp>
        <p:nvSpPr>
          <p:cNvPr id="24" name="Freeform 24" descr="preencoded.png"/>
          <p:cNvSpPr/>
          <p:nvPr/>
        </p:nvSpPr>
        <p:spPr>
          <a:xfrm>
            <a:off x="12577172" y="3483026"/>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10">
              <a:extLst>
                <a:ext uri="{96DAC541-7B7A-43D3-8B79-37D633B846F1}">
                  <asvg:svgBlip xmlns:asvg="http://schemas.microsoft.com/office/drawing/2016/SVG/main" r:embed="rId11"/>
                </a:ext>
              </a:extLst>
            </a:blip>
            <a:stretch>
              <a:fillRect l="-15854" r="-15851"/>
            </a:stretch>
          </a:blipFill>
        </p:spPr>
      </p:sp>
      <p:sp>
        <p:nvSpPr>
          <p:cNvPr id="25" name="TextBox 25"/>
          <p:cNvSpPr txBox="1"/>
          <p:nvPr/>
        </p:nvSpPr>
        <p:spPr>
          <a:xfrm>
            <a:off x="12343209" y="4345191"/>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Capacitación</a:t>
            </a:r>
          </a:p>
        </p:txBody>
      </p:sp>
      <p:sp>
        <p:nvSpPr>
          <p:cNvPr id="26" name="TextBox 26"/>
          <p:cNvSpPr txBox="1"/>
          <p:nvPr/>
        </p:nvSpPr>
        <p:spPr>
          <a:xfrm>
            <a:off x="12343209" y="4891535"/>
            <a:ext cx="4659363" cy="1919287"/>
          </a:xfrm>
          <a:prstGeom prst="rect">
            <a:avLst/>
          </a:prstGeom>
        </p:spPr>
        <p:txBody>
          <a:bodyPr lIns="0" tIns="0" rIns="0" bIns="0" rtlCol="0" anchor="t">
            <a:spAutoFit/>
          </a:bodyPr>
          <a:lstStyle/>
          <a:p>
            <a:pPr algn="l">
              <a:lnSpc>
                <a:spcPts val="3562"/>
              </a:lnSpc>
            </a:pPr>
            <a:r>
              <a:rPr lang="en-US" sz="2187">
                <a:solidFill>
                  <a:srgbClr val="5B5F71"/>
                </a:solidFill>
                <a:latin typeface="Arimo"/>
                <a:ea typeface="Arimo"/>
                <a:cs typeface="Arimo"/>
                <a:sym typeface="Arimo"/>
              </a:rPr>
              <a:t>Formación de usuarios finales para utilizar el software eficientemente, reduciendo curva de aprendizaje y minimizando errores operativos</a:t>
            </a:r>
          </a:p>
        </p:txBody>
      </p:sp>
      <p:sp>
        <p:nvSpPr>
          <p:cNvPr id="27" name="TextBox 27"/>
          <p:cNvSpPr txBox="1"/>
          <p:nvPr/>
        </p:nvSpPr>
        <p:spPr>
          <a:xfrm>
            <a:off x="992238" y="7771657"/>
            <a:ext cx="16303523" cy="1012031"/>
          </a:xfrm>
          <a:prstGeom prst="rect">
            <a:avLst/>
          </a:prstGeom>
        </p:spPr>
        <p:txBody>
          <a:bodyPr lIns="0" tIns="0" rIns="0" bIns="0" rtlCol="0" anchor="t">
            <a:spAutoFit/>
          </a:bodyPr>
          <a:lstStyle/>
          <a:p>
            <a:pPr algn="l">
              <a:lnSpc>
                <a:spcPts val="3562"/>
              </a:lnSpc>
            </a:pPr>
            <a:r>
              <a:rPr lang="en-US" sz="2187">
                <a:solidFill>
                  <a:srgbClr val="5B5F71"/>
                </a:solidFill>
                <a:latin typeface="Arimo"/>
                <a:ea typeface="Arimo"/>
                <a:cs typeface="Arimo"/>
                <a:sym typeface="Arimo"/>
              </a:rPr>
              <a:t>El sistema </a:t>
            </a:r>
            <a:r>
              <a:rPr lang="en-US" sz="2187" b="1">
                <a:solidFill>
                  <a:srgbClr val="5B5F71"/>
                </a:solidFill>
                <a:latin typeface="Arimo Bold"/>
                <a:ea typeface="Arimo Bold"/>
                <a:cs typeface="Arimo Bold"/>
                <a:sym typeface="Arimo Bold"/>
              </a:rPr>
              <a:t>EventControl</a:t>
            </a:r>
            <a:r>
              <a:rPr lang="en-US" sz="2187">
                <a:solidFill>
                  <a:srgbClr val="5B5F71"/>
                </a:solidFill>
                <a:latin typeface="Arimo"/>
                <a:ea typeface="Arimo"/>
                <a:cs typeface="Arimo"/>
                <a:sym typeface="Arimo"/>
              </a:rPr>
              <a:t> es una aplicación web desarrollada para gestionar el acceso de invitados mediante códigos QR únicos, confirmación de asistencia y control en tiempo real.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8" y="1856184"/>
            <a:ext cx="4514255" cy="900112"/>
          </a:xfrm>
          <a:prstGeom prst="rect">
            <a:avLst/>
          </a:prstGeom>
        </p:spPr>
        <p:txBody>
          <a:bodyPr lIns="0" tIns="0" rIns="0" bIns="0" rtlCol="0" anchor="t">
            <a:spAutoFit/>
          </a:bodyPr>
          <a:lstStyle/>
          <a:p>
            <a:pPr algn="l">
              <a:lnSpc>
                <a:spcPts val="6937"/>
              </a:lnSpc>
            </a:pPr>
            <a:r>
              <a:rPr lang="en-US" sz="5562" b="1">
                <a:solidFill>
                  <a:srgbClr val="505468"/>
                </a:solidFill>
                <a:latin typeface="Arimo Bold"/>
                <a:ea typeface="Arimo Bold"/>
                <a:cs typeface="Arimo Bold"/>
                <a:sym typeface="Arimo Bold"/>
              </a:rPr>
              <a:t>Justificación </a:t>
            </a:r>
          </a:p>
        </p:txBody>
      </p:sp>
      <p:sp>
        <p:nvSpPr>
          <p:cNvPr id="3" name="TextBox 3"/>
          <p:cNvSpPr txBox="1"/>
          <p:nvPr/>
        </p:nvSpPr>
        <p:spPr>
          <a:xfrm>
            <a:off x="992238" y="3615185"/>
            <a:ext cx="10355161" cy="1856695"/>
          </a:xfrm>
          <a:prstGeom prst="rect">
            <a:avLst/>
          </a:prstGeom>
        </p:spPr>
        <p:txBody>
          <a:bodyPr lIns="0" tIns="0" rIns="0" bIns="0" rtlCol="0" anchor="t">
            <a:spAutoFit/>
          </a:bodyPr>
          <a:lstStyle/>
          <a:p>
            <a:pPr algn="l">
              <a:lnSpc>
                <a:spcPts val="3725"/>
              </a:lnSpc>
            </a:pPr>
            <a:r>
              <a:rPr lang="en-US" sz="2287">
                <a:solidFill>
                  <a:srgbClr val="5B5F71"/>
                </a:solidFill>
                <a:latin typeface="Arimo"/>
                <a:ea typeface="Arimo"/>
                <a:cs typeface="Arimo"/>
                <a:sym typeface="Arimo"/>
              </a:rPr>
              <a:t>Garantizar que EventControl funcione de manera correcta, confiable y acorde a los requerimientos definidos. La aplicación de pruebas detecta errores y valida el comportamiento del sistema, reduciendo riesgos antes de su puesta en operación.</a:t>
            </a:r>
          </a:p>
        </p:txBody>
      </p:sp>
      <p:sp>
        <p:nvSpPr>
          <p:cNvPr id="4" name="TextBox 4"/>
          <p:cNvSpPr txBox="1"/>
          <p:nvPr/>
        </p:nvSpPr>
        <p:spPr>
          <a:xfrm>
            <a:off x="992238" y="5684796"/>
            <a:ext cx="10355161" cy="1856695"/>
          </a:xfrm>
          <a:prstGeom prst="rect">
            <a:avLst/>
          </a:prstGeom>
        </p:spPr>
        <p:txBody>
          <a:bodyPr lIns="0" tIns="0" rIns="0" bIns="0" rtlCol="0" anchor="t">
            <a:spAutoFit/>
          </a:bodyPr>
          <a:lstStyle/>
          <a:p>
            <a:pPr algn="l">
              <a:lnSpc>
                <a:spcPts val="3725"/>
              </a:lnSpc>
            </a:pPr>
            <a:r>
              <a:rPr lang="en-US" sz="2287">
                <a:solidFill>
                  <a:srgbClr val="505468"/>
                </a:solidFill>
                <a:latin typeface="Arimo"/>
                <a:ea typeface="Arimo"/>
                <a:cs typeface="Arimo"/>
                <a:sym typeface="Arimo"/>
              </a:rPr>
              <a:t>El sistema se utiliza durante un evento en vivo donde no existe margen para errores.</a:t>
            </a:r>
            <a:r>
              <a:rPr lang="en-US" sz="2287">
                <a:solidFill>
                  <a:srgbClr val="5B5F71"/>
                </a:solidFill>
                <a:latin typeface="Arimo"/>
                <a:ea typeface="Arimo"/>
                <a:cs typeface="Arimo"/>
                <a:sym typeface="Arimo"/>
              </a:rPr>
              <a:t> Los invitados esperan acceso ágil, el personal necesita herramientas intuitivas y los organizadores requieren visibilidad del estado del evento en todo momento.</a:t>
            </a:r>
          </a:p>
        </p:txBody>
      </p:sp>
      <p:grpSp>
        <p:nvGrpSpPr>
          <p:cNvPr id="5" name="Group 5"/>
          <p:cNvGrpSpPr/>
          <p:nvPr/>
        </p:nvGrpSpPr>
        <p:grpSpPr>
          <a:xfrm>
            <a:off x="11844490" y="3224508"/>
            <a:ext cx="5664841" cy="5149158"/>
            <a:chOff x="0" y="0"/>
            <a:chExt cx="7553122" cy="6865544"/>
          </a:xfrm>
        </p:grpSpPr>
        <p:sp>
          <p:nvSpPr>
            <p:cNvPr id="6" name="Freeform 6"/>
            <p:cNvSpPr/>
            <p:nvPr/>
          </p:nvSpPr>
          <p:spPr>
            <a:xfrm>
              <a:off x="0" y="0"/>
              <a:ext cx="7553071" cy="6865493"/>
            </a:xfrm>
            <a:custGeom>
              <a:avLst/>
              <a:gdLst/>
              <a:ahLst/>
              <a:cxnLst/>
              <a:rect l="l" t="t" r="r" b="b"/>
              <a:pathLst>
                <a:path w="7553071" h="6865493">
                  <a:moveTo>
                    <a:pt x="0" y="272161"/>
                  </a:moveTo>
                  <a:cubicBezTo>
                    <a:pt x="0" y="121920"/>
                    <a:pt x="121920" y="0"/>
                    <a:pt x="272161" y="0"/>
                  </a:cubicBezTo>
                  <a:lnTo>
                    <a:pt x="7280910" y="0"/>
                  </a:lnTo>
                  <a:cubicBezTo>
                    <a:pt x="7431278" y="0"/>
                    <a:pt x="7553071" y="121920"/>
                    <a:pt x="7553071" y="272161"/>
                  </a:cubicBezTo>
                  <a:lnTo>
                    <a:pt x="7553071" y="6593332"/>
                  </a:lnTo>
                  <a:cubicBezTo>
                    <a:pt x="7553071" y="6743700"/>
                    <a:pt x="7431151" y="6865493"/>
                    <a:pt x="7280910" y="6865493"/>
                  </a:cubicBezTo>
                  <a:lnTo>
                    <a:pt x="272161" y="6865493"/>
                  </a:lnTo>
                  <a:cubicBezTo>
                    <a:pt x="121920" y="6865493"/>
                    <a:pt x="0" y="6743700"/>
                    <a:pt x="0" y="6593332"/>
                  </a:cubicBezTo>
                  <a:close/>
                </a:path>
              </a:pathLst>
            </a:custGeom>
            <a:solidFill>
              <a:srgbClr val="505468">
                <a:alpha val="90196"/>
              </a:srgbClr>
            </a:solidFill>
          </p:spPr>
        </p:sp>
      </p:grpSp>
      <p:sp>
        <p:nvSpPr>
          <p:cNvPr id="7" name="TextBox 7"/>
          <p:cNvSpPr txBox="1"/>
          <p:nvPr/>
        </p:nvSpPr>
        <p:spPr>
          <a:xfrm>
            <a:off x="12128002" y="3469929"/>
            <a:ext cx="3544043" cy="481012"/>
          </a:xfrm>
          <a:prstGeom prst="rect">
            <a:avLst/>
          </a:prstGeom>
        </p:spPr>
        <p:txBody>
          <a:bodyPr lIns="0" tIns="0" rIns="0" bIns="0" rtlCol="0" anchor="t">
            <a:spAutoFit/>
          </a:bodyPr>
          <a:lstStyle/>
          <a:p>
            <a:pPr algn="l">
              <a:lnSpc>
                <a:spcPts val="3437"/>
              </a:lnSpc>
            </a:pPr>
            <a:r>
              <a:rPr lang="en-US" sz="2750" b="1">
                <a:solidFill>
                  <a:srgbClr val="FFFFFF"/>
                </a:solidFill>
                <a:latin typeface="Arimo Bold"/>
                <a:ea typeface="Arimo Bold"/>
                <a:cs typeface="Arimo Bold"/>
                <a:sym typeface="Arimo Bold"/>
              </a:rPr>
              <a:t>Objetivo Principal</a:t>
            </a:r>
          </a:p>
        </p:txBody>
      </p:sp>
      <p:sp>
        <p:nvSpPr>
          <p:cNvPr id="8" name="TextBox 8"/>
          <p:cNvSpPr txBox="1"/>
          <p:nvPr/>
        </p:nvSpPr>
        <p:spPr>
          <a:xfrm>
            <a:off x="12128002" y="4129678"/>
            <a:ext cx="5097809" cy="2826544"/>
          </a:xfrm>
          <a:prstGeom prst="rect">
            <a:avLst/>
          </a:prstGeom>
        </p:spPr>
        <p:txBody>
          <a:bodyPr lIns="0" tIns="0" rIns="0" bIns="0" rtlCol="0" anchor="t">
            <a:spAutoFit/>
          </a:bodyPr>
          <a:lstStyle/>
          <a:p>
            <a:pPr algn="l">
              <a:lnSpc>
                <a:spcPts val="3562"/>
              </a:lnSpc>
            </a:pPr>
            <a:r>
              <a:rPr lang="en-US" sz="2187">
                <a:solidFill>
                  <a:srgbClr val="FFFFFF"/>
                </a:solidFill>
                <a:latin typeface="Arimo"/>
                <a:ea typeface="Arimo"/>
                <a:cs typeface="Arimo"/>
                <a:sym typeface="Arimo"/>
              </a:rPr>
              <a:t>Aplicar pruebas de software, realizar la implantación del sistema EventControl y llevar a cabo la capacitación a usuarios, con el fin de validar su funcionamiento y asegurar su correcta operación en un entorno real.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8" y="528561"/>
            <a:ext cx="11352162" cy="825995"/>
          </a:xfrm>
          <a:prstGeom prst="rect">
            <a:avLst/>
          </a:prstGeom>
        </p:spPr>
        <p:txBody>
          <a:bodyPr wrap="square" lIns="0" tIns="0" rIns="0" bIns="0" rtlCol="0" anchor="t">
            <a:spAutoFit/>
          </a:bodyPr>
          <a:lstStyle/>
          <a:p>
            <a:pPr algn="l">
              <a:lnSpc>
                <a:spcPts val="6937"/>
              </a:lnSpc>
            </a:pPr>
            <a:r>
              <a:rPr lang="en-US" sz="5562" b="1" dirty="0" err="1">
                <a:solidFill>
                  <a:srgbClr val="505468"/>
                </a:solidFill>
                <a:latin typeface="Arimo Bold"/>
                <a:ea typeface="Arimo Bold"/>
                <a:cs typeface="Arimo Bold"/>
                <a:sym typeface="Arimo Bold"/>
              </a:rPr>
              <a:t>Tipos</a:t>
            </a:r>
            <a:r>
              <a:rPr lang="en-US" sz="5562" b="1" dirty="0">
                <a:solidFill>
                  <a:srgbClr val="505468"/>
                </a:solidFill>
                <a:latin typeface="Arimo Bold"/>
                <a:ea typeface="Arimo Bold"/>
                <a:cs typeface="Arimo Bold"/>
                <a:sym typeface="Arimo Bold"/>
              </a:rPr>
              <a:t> de </a:t>
            </a:r>
            <a:r>
              <a:rPr lang="en-US" sz="5562" b="1" dirty="0" err="1">
                <a:solidFill>
                  <a:srgbClr val="505468"/>
                </a:solidFill>
                <a:latin typeface="Arimo Bold"/>
                <a:ea typeface="Arimo Bold"/>
                <a:cs typeface="Arimo Bold"/>
                <a:sym typeface="Arimo Bold"/>
              </a:rPr>
              <a:t>Pruebas</a:t>
            </a:r>
            <a:r>
              <a:rPr lang="en-US" sz="5562" b="1" dirty="0">
                <a:solidFill>
                  <a:srgbClr val="505468"/>
                </a:solidFill>
                <a:latin typeface="Arimo Bold"/>
                <a:ea typeface="Arimo Bold"/>
                <a:cs typeface="Arimo Bold"/>
                <a:sym typeface="Arimo Bold"/>
              </a:rPr>
              <a:t> </a:t>
            </a:r>
            <a:r>
              <a:rPr lang="en-US" sz="5562" b="1" dirty="0" err="1">
                <a:solidFill>
                  <a:srgbClr val="505468"/>
                </a:solidFill>
                <a:latin typeface="Arimo Bold"/>
                <a:ea typeface="Arimo Bold"/>
                <a:cs typeface="Arimo Bold"/>
                <a:sym typeface="Arimo Bold"/>
              </a:rPr>
              <a:t>Aplicadas</a:t>
            </a:r>
            <a:endParaRPr lang="en-US" sz="5562" b="1" dirty="0">
              <a:solidFill>
                <a:srgbClr val="505468"/>
              </a:solidFill>
              <a:latin typeface="Arimo Bold"/>
              <a:ea typeface="Arimo Bold"/>
              <a:cs typeface="Arimo Bold"/>
              <a:sym typeface="Arimo Bold"/>
            </a:endParaRPr>
          </a:p>
        </p:txBody>
      </p:sp>
      <p:sp>
        <p:nvSpPr>
          <p:cNvPr id="3" name="TextBox 3"/>
          <p:cNvSpPr txBox="1"/>
          <p:nvPr/>
        </p:nvSpPr>
        <p:spPr>
          <a:xfrm>
            <a:off x="992238" y="3002166"/>
            <a:ext cx="283521" cy="410112"/>
          </a:xfrm>
          <a:prstGeom prst="rect">
            <a:avLst/>
          </a:prstGeom>
        </p:spPr>
        <p:txBody>
          <a:bodyPr lIns="0" tIns="0" rIns="0" bIns="0" rtlCol="0" anchor="t">
            <a:spAutoFit/>
          </a:bodyPr>
          <a:lstStyle/>
          <a:p>
            <a:pPr algn="l">
              <a:lnSpc>
                <a:spcPts val="3562"/>
              </a:lnSpc>
            </a:pPr>
            <a:r>
              <a:rPr lang="en-US" sz="2187" dirty="0">
                <a:solidFill>
                  <a:srgbClr val="5B5F71"/>
                </a:solidFill>
                <a:latin typeface="Arimo"/>
                <a:ea typeface="Arimo"/>
                <a:cs typeface="Arimo"/>
                <a:sym typeface="Arimo"/>
              </a:rPr>
              <a:t>1</a:t>
            </a:r>
          </a:p>
        </p:txBody>
      </p:sp>
      <p:grpSp>
        <p:nvGrpSpPr>
          <p:cNvPr id="4" name="Group 4"/>
          <p:cNvGrpSpPr/>
          <p:nvPr/>
        </p:nvGrpSpPr>
        <p:grpSpPr>
          <a:xfrm>
            <a:off x="992238" y="3550739"/>
            <a:ext cx="8009934" cy="38100"/>
            <a:chOff x="0" y="0"/>
            <a:chExt cx="10679913" cy="50800"/>
          </a:xfrm>
        </p:grpSpPr>
        <p:sp>
          <p:nvSpPr>
            <p:cNvPr id="5" name="Freeform 5" descr="preencoded.png"/>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lnTo>
                    <a:pt x="0" y="0"/>
                  </a:lnTo>
                  <a:close/>
                </a:path>
              </a:pathLst>
            </a:custGeom>
            <a:blipFill>
              <a:blip r:embed="rId3"/>
              <a:stretch>
                <a:fillRect l="-3" r="-3"/>
              </a:stretch>
            </a:blipFill>
          </p:spPr>
        </p:sp>
      </p:grpSp>
      <p:sp>
        <p:nvSpPr>
          <p:cNvPr id="6" name="TextBox 6"/>
          <p:cNvSpPr txBox="1"/>
          <p:nvPr/>
        </p:nvSpPr>
        <p:spPr>
          <a:xfrm>
            <a:off x="992238" y="3730523"/>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Pruebas Unitarias</a:t>
            </a:r>
          </a:p>
        </p:txBody>
      </p:sp>
      <p:sp>
        <p:nvSpPr>
          <p:cNvPr id="7" name="TextBox 7"/>
          <p:cNvSpPr txBox="1"/>
          <p:nvPr/>
        </p:nvSpPr>
        <p:spPr>
          <a:xfrm>
            <a:off x="992238" y="4276877"/>
            <a:ext cx="8009934" cy="1328737"/>
          </a:xfrm>
          <a:prstGeom prst="rect">
            <a:avLst/>
          </a:prstGeom>
        </p:spPr>
        <p:txBody>
          <a:bodyPr lIns="0" tIns="0" rIns="0" bIns="0" rtlCol="0" anchor="t">
            <a:spAutoFit/>
          </a:bodyPr>
          <a:lstStyle/>
          <a:p>
            <a:pPr algn="l">
              <a:lnSpc>
                <a:spcPts val="3562"/>
              </a:lnSpc>
            </a:pPr>
            <a:r>
              <a:rPr lang="en-US" sz="2187">
                <a:solidFill>
                  <a:srgbClr val="5B5F71"/>
                </a:solidFill>
                <a:latin typeface="Arimo"/>
                <a:ea typeface="Arimo"/>
                <a:cs typeface="Arimo"/>
                <a:sym typeface="Arimo"/>
              </a:rPr>
              <a:t>Verificación del funcionamiento de cada módulo de manera individual, como el registro de invitados, generación de invitaciones y gestión de mesas.</a:t>
            </a:r>
          </a:p>
        </p:txBody>
      </p:sp>
      <p:sp>
        <p:nvSpPr>
          <p:cNvPr id="8" name="TextBox 8"/>
          <p:cNvSpPr txBox="1"/>
          <p:nvPr/>
        </p:nvSpPr>
        <p:spPr>
          <a:xfrm>
            <a:off x="9285684" y="3002166"/>
            <a:ext cx="283521" cy="410112"/>
          </a:xfrm>
          <a:prstGeom prst="rect">
            <a:avLst/>
          </a:prstGeom>
        </p:spPr>
        <p:txBody>
          <a:bodyPr lIns="0" tIns="0" rIns="0" bIns="0" rtlCol="0" anchor="t">
            <a:spAutoFit/>
          </a:bodyPr>
          <a:lstStyle/>
          <a:p>
            <a:pPr algn="l">
              <a:lnSpc>
                <a:spcPts val="3562"/>
              </a:lnSpc>
            </a:pPr>
            <a:r>
              <a:rPr lang="en-US" sz="2187" dirty="0">
                <a:solidFill>
                  <a:srgbClr val="5B5F71"/>
                </a:solidFill>
                <a:latin typeface="Arimo"/>
                <a:ea typeface="Arimo"/>
                <a:cs typeface="Arimo"/>
                <a:sym typeface="Arimo"/>
              </a:rPr>
              <a:t>2</a:t>
            </a:r>
          </a:p>
        </p:txBody>
      </p:sp>
      <p:grpSp>
        <p:nvGrpSpPr>
          <p:cNvPr id="9" name="Group 9"/>
          <p:cNvGrpSpPr/>
          <p:nvPr/>
        </p:nvGrpSpPr>
        <p:grpSpPr>
          <a:xfrm>
            <a:off x="9285684" y="3550739"/>
            <a:ext cx="8010077" cy="38100"/>
            <a:chOff x="0" y="0"/>
            <a:chExt cx="10680103" cy="50800"/>
          </a:xfrm>
        </p:grpSpPr>
        <p:sp>
          <p:nvSpPr>
            <p:cNvPr id="10" name="Freeform 10" descr="preencoded.png"/>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lnTo>
                    <a:pt x="0" y="0"/>
                  </a:lnTo>
                  <a:close/>
                </a:path>
              </a:pathLst>
            </a:custGeom>
            <a:blipFill>
              <a:blip r:embed="rId3"/>
              <a:stretch>
                <a:fillRect l="-2" r="-3"/>
              </a:stretch>
            </a:blipFill>
          </p:spPr>
        </p:sp>
      </p:grpSp>
      <p:sp>
        <p:nvSpPr>
          <p:cNvPr id="11" name="TextBox 11"/>
          <p:cNvSpPr txBox="1"/>
          <p:nvPr/>
        </p:nvSpPr>
        <p:spPr>
          <a:xfrm>
            <a:off x="9285684" y="3730523"/>
            <a:ext cx="4963716" cy="407291"/>
          </a:xfrm>
          <a:prstGeom prst="rect">
            <a:avLst/>
          </a:prstGeom>
        </p:spPr>
        <p:txBody>
          <a:bodyPr wrap="square"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Pruebas de Integración</a:t>
            </a:r>
          </a:p>
        </p:txBody>
      </p:sp>
      <p:sp>
        <p:nvSpPr>
          <p:cNvPr id="12" name="TextBox 12"/>
          <p:cNvSpPr txBox="1"/>
          <p:nvPr/>
        </p:nvSpPr>
        <p:spPr>
          <a:xfrm>
            <a:off x="9249223" y="4276877"/>
            <a:ext cx="8010077" cy="2224167"/>
          </a:xfrm>
          <a:prstGeom prst="rect">
            <a:avLst/>
          </a:prstGeom>
        </p:spPr>
        <p:txBody>
          <a:bodyPr lIns="0" tIns="0" rIns="0" bIns="0" rtlCol="0" anchor="t">
            <a:spAutoFit/>
          </a:bodyPr>
          <a:lstStyle/>
          <a:p>
            <a:pPr algn="l">
              <a:lnSpc>
                <a:spcPts val="3561"/>
              </a:lnSpc>
            </a:pPr>
            <a:r>
              <a:rPr lang="en-US" sz="2187">
                <a:solidFill>
                  <a:srgbClr val="5B5F71"/>
                </a:solidFill>
                <a:latin typeface="Arimo"/>
                <a:ea typeface="Arimo"/>
                <a:cs typeface="Arimo"/>
                <a:sym typeface="Arimo"/>
              </a:rPr>
              <a:t>Evaluación de la interacción entre los distintos componentes del sistema, como la comunicación entre el frontend y Supabase, así como la validación del flujo entre autenticación, base de datos y escáner QR.</a:t>
            </a:r>
          </a:p>
          <a:p>
            <a:pPr algn="l">
              <a:lnSpc>
                <a:spcPts val="3562"/>
              </a:lnSpc>
            </a:pPr>
            <a:endParaRPr lang="en-US" sz="2187">
              <a:solidFill>
                <a:srgbClr val="5B5F71"/>
              </a:solidFill>
              <a:latin typeface="Arimo"/>
              <a:ea typeface="Arimo"/>
              <a:cs typeface="Arimo"/>
              <a:sym typeface="Arimo"/>
            </a:endParaRPr>
          </a:p>
        </p:txBody>
      </p:sp>
      <p:sp>
        <p:nvSpPr>
          <p:cNvPr id="13" name="TextBox 13"/>
          <p:cNvSpPr txBox="1"/>
          <p:nvPr/>
        </p:nvSpPr>
        <p:spPr>
          <a:xfrm>
            <a:off x="992238" y="6895652"/>
            <a:ext cx="283521" cy="410112"/>
          </a:xfrm>
          <a:prstGeom prst="rect">
            <a:avLst/>
          </a:prstGeom>
        </p:spPr>
        <p:txBody>
          <a:bodyPr lIns="0" tIns="0" rIns="0" bIns="0" rtlCol="0" anchor="t">
            <a:spAutoFit/>
          </a:bodyPr>
          <a:lstStyle/>
          <a:p>
            <a:pPr algn="l">
              <a:lnSpc>
                <a:spcPts val="3562"/>
              </a:lnSpc>
            </a:pPr>
            <a:r>
              <a:rPr lang="en-US" sz="2187" dirty="0">
                <a:solidFill>
                  <a:srgbClr val="5B5F71"/>
                </a:solidFill>
                <a:latin typeface="Arimo"/>
                <a:ea typeface="Arimo"/>
                <a:cs typeface="Arimo"/>
                <a:sym typeface="Arimo"/>
              </a:rPr>
              <a:t>3</a:t>
            </a:r>
          </a:p>
        </p:txBody>
      </p:sp>
      <p:grpSp>
        <p:nvGrpSpPr>
          <p:cNvPr id="14" name="Group 14"/>
          <p:cNvGrpSpPr/>
          <p:nvPr/>
        </p:nvGrpSpPr>
        <p:grpSpPr>
          <a:xfrm>
            <a:off x="992238" y="7415803"/>
            <a:ext cx="8009934" cy="38100"/>
            <a:chOff x="0" y="0"/>
            <a:chExt cx="10679913" cy="50800"/>
          </a:xfrm>
        </p:grpSpPr>
        <p:sp>
          <p:nvSpPr>
            <p:cNvPr id="15" name="Freeform 15" descr="preencoded.png"/>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lnTo>
                    <a:pt x="0" y="0"/>
                  </a:lnTo>
                  <a:close/>
                </a:path>
              </a:pathLst>
            </a:custGeom>
            <a:blipFill>
              <a:blip r:embed="rId3"/>
              <a:stretch>
                <a:fillRect l="-3" r="-3"/>
              </a:stretch>
            </a:blipFill>
          </p:spPr>
        </p:sp>
      </p:grpSp>
      <p:sp>
        <p:nvSpPr>
          <p:cNvPr id="16" name="TextBox 16"/>
          <p:cNvSpPr txBox="1"/>
          <p:nvPr/>
        </p:nvSpPr>
        <p:spPr>
          <a:xfrm>
            <a:off x="992238" y="7624020"/>
            <a:ext cx="3319224" cy="449262"/>
          </a:xfrm>
          <a:prstGeom prst="rect">
            <a:avLst/>
          </a:prstGeom>
        </p:spPr>
        <p:txBody>
          <a:bodyPr lIns="0" tIns="0" rIns="0" bIns="0" rtlCol="0" anchor="t">
            <a:spAutoFit/>
          </a:bodyPr>
          <a:lstStyle/>
          <a:p>
            <a:pPr algn="l">
              <a:lnSpc>
                <a:spcPts val="3437"/>
              </a:lnSpc>
            </a:pPr>
            <a:r>
              <a:rPr lang="en-US" sz="2750" b="1" dirty="0" err="1">
                <a:solidFill>
                  <a:srgbClr val="5B5F71"/>
                </a:solidFill>
                <a:latin typeface="Arimo Bold"/>
                <a:ea typeface="Arimo Bold"/>
                <a:cs typeface="Arimo Bold"/>
                <a:sym typeface="Arimo Bold"/>
              </a:rPr>
              <a:t>Pruebas</a:t>
            </a:r>
            <a:r>
              <a:rPr lang="en-US" sz="2750" b="1" dirty="0">
                <a:solidFill>
                  <a:srgbClr val="5B5F71"/>
                </a:solidFill>
                <a:latin typeface="Arimo Bold"/>
                <a:ea typeface="Arimo Bold"/>
                <a:cs typeface="Arimo Bold"/>
                <a:sym typeface="Arimo Bold"/>
              </a:rPr>
              <a:t> de Sistema</a:t>
            </a:r>
          </a:p>
        </p:txBody>
      </p:sp>
      <p:sp>
        <p:nvSpPr>
          <p:cNvPr id="17" name="TextBox 17"/>
          <p:cNvSpPr txBox="1"/>
          <p:nvPr/>
        </p:nvSpPr>
        <p:spPr>
          <a:xfrm>
            <a:off x="992238" y="8170364"/>
            <a:ext cx="8009934" cy="1776492"/>
          </a:xfrm>
          <a:prstGeom prst="rect">
            <a:avLst/>
          </a:prstGeom>
        </p:spPr>
        <p:txBody>
          <a:bodyPr lIns="0" tIns="0" rIns="0" bIns="0" rtlCol="0" anchor="t">
            <a:spAutoFit/>
          </a:bodyPr>
          <a:lstStyle/>
          <a:p>
            <a:pPr algn="l">
              <a:lnSpc>
                <a:spcPts val="3561"/>
              </a:lnSpc>
            </a:pPr>
            <a:r>
              <a:rPr lang="en-US" sz="2187">
                <a:solidFill>
                  <a:srgbClr val="5B5F71"/>
                </a:solidFill>
                <a:latin typeface="Arimo"/>
                <a:ea typeface="Arimo"/>
                <a:cs typeface="Arimo"/>
                <a:sym typeface="Arimo"/>
              </a:rPr>
              <a:t>Evaluación del sistema completo mediante la simulación del flujo real del evento, desde la creación de pases hasta el registro de acceso de los invitados.</a:t>
            </a:r>
          </a:p>
          <a:p>
            <a:pPr algn="l">
              <a:lnSpc>
                <a:spcPts val="3562"/>
              </a:lnSpc>
            </a:pPr>
            <a:endParaRPr lang="en-US" sz="2187">
              <a:solidFill>
                <a:srgbClr val="5B5F71"/>
              </a:solidFill>
              <a:latin typeface="Arimo"/>
              <a:ea typeface="Arimo"/>
              <a:cs typeface="Arimo"/>
              <a:sym typeface="Arimo"/>
            </a:endParaRPr>
          </a:p>
        </p:txBody>
      </p:sp>
      <p:sp>
        <p:nvSpPr>
          <p:cNvPr id="18" name="TextBox 18"/>
          <p:cNvSpPr txBox="1"/>
          <p:nvPr/>
        </p:nvSpPr>
        <p:spPr>
          <a:xfrm>
            <a:off x="9285684" y="6895652"/>
            <a:ext cx="283521" cy="410112"/>
          </a:xfrm>
          <a:prstGeom prst="rect">
            <a:avLst/>
          </a:prstGeom>
        </p:spPr>
        <p:txBody>
          <a:bodyPr lIns="0" tIns="0" rIns="0" bIns="0" rtlCol="0" anchor="t">
            <a:spAutoFit/>
          </a:bodyPr>
          <a:lstStyle/>
          <a:p>
            <a:pPr algn="l">
              <a:lnSpc>
                <a:spcPts val="3562"/>
              </a:lnSpc>
            </a:pPr>
            <a:r>
              <a:rPr lang="en-US" sz="2187" dirty="0">
                <a:solidFill>
                  <a:srgbClr val="5B5F71"/>
                </a:solidFill>
                <a:latin typeface="Arimo"/>
                <a:ea typeface="Arimo"/>
                <a:cs typeface="Arimo"/>
                <a:sym typeface="Arimo"/>
              </a:rPr>
              <a:t>4</a:t>
            </a:r>
          </a:p>
        </p:txBody>
      </p:sp>
      <p:grpSp>
        <p:nvGrpSpPr>
          <p:cNvPr id="19" name="Group 19"/>
          <p:cNvGrpSpPr/>
          <p:nvPr/>
        </p:nvGrpSpPr>
        <p:grpSpPr>
          <a:xfrm>
            <a:off x="9285684" y="7415803"/>
            <a:ext cx="8010077" cy="38100"/>
            <a:chOff x="0" y="0"/>
            <a:chExt cx="10680103" cy="50800"/>
          </a:xfrm>
        </p:grpSpPr>
        <p:sp>
          <p:nvSpPr>
            <p:cNvPr id="20" name="Freeform 20" descr="preencoded.png"/>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lnTo>
                    <a:pt x="0" y="0"/>
                  </a:lnTo>
                  <a:close/>
                </a:path>
              </a:pathLst>
            </a:custGeom>
            <a:blipFill>
              <a:blip r:embed="rId3"/>
              <a:stretch>
                <a:fillRect l="-2" r="-3"/>
              </a:stretch>
            </a:blipFill>
          </p:spPr>
        </p:sp>
      </p:grpSp>
      <p:sp>
        <p:nvSpPr>
          <p:cNvPr id="21" name="TextBox 21"/>
          <p:cNvSpPr txBox="1"/>
          <p:nvPr/>
        </p:nvSpPr>
        <p:spPr>
          <a:xfrm>
            <a:off x="9285684" y="7624020"/>
            <a:ext cx="4811316" cy="407291"/>
          </a:xfrm>
          <a:prstGeom prst="rect">
            <a:avLst/>
          </a:prstGeom>
        </p:spPr>
        <p:txBody>
          <a:bodyPr wrap="square" lIns="0" tIns="0" rIns="0" bIns="0" rtlCol="0" anchor="t">
            <a:spAutoFit/>
          </a:bodyPr>
          <a:lstStyle/>
          <a:p>
            <a:pPr algn="l">
              <a:lnSpc>
                <a:spcPts val="3437"/>
              </a:lnSpc>
            </a:pPr>
            <a:r>
              <a:rPr lang="en-US" sz="2750" b="1" dirty="0" err="1">
                <a:solidFill>
                  <a:srgbClr val="5B5F71"/>
                </a:solidFill>
                <a:latin typeface="Arimo Bold"/>
                <a:ea typeface="Arimo Bold"/>
                <a:cs typeface="Arimo Bold"/>
                <a:sym typeface="Arimo Bold"/>
              </a:rPr>
              <a:t>Pruebas</a:t>
            </a:r>
            <a:r>
              <a:rPr lang="en-US" sz="2750" b="1" dirty="0">
                <a:solidFill>
                  <a:srgbClr val="5B5F71"/>
                </a:solidFill>
                <a:latin typeface="Arimo Bold"/>
                <a:ea typeface="Arimo Bold"/>
                <a:cs typeface="Arimo Bold"/>
                <a:sym typeface="Arimo Bold"/>
              </a:rPr>
              <a:t> de </a:t>
            </a:r>
            <a:r>
              <a:rPr lang="en-US" sz="2750" b="1" dirty="0" err="1">
                <a:solidFill>
                  <a:srgbClr val="5B5F71"/>
                </a:solidFill>
                <a:latin typeface="Arimo Bold"/>
                <a:ea typeface="Arimo Bold"/>
                <a:cs typeface="Arimo Bold"/>
                <a:sym typeface="Arimo Bold"/>
              </a:rPr>
              <a:t>Caja</a:t>
            </a:r>
            <a:r>
              <a:rPr lang="en-US" sz="2750" b="1" dirty="0">
                <a:solidFill>
                  <a:srgbClr val="5B5F71"/>
                </a:solidFill>
                <a:latin typeface="Arimo Bold"/>
                <a:ea typeface="Arimo Bold"/>
                <a:cs typeface="Arimo Bold"/>
                <a:sym typeface="Arimo Bold"/>
              </a:rPr>
              <a:t> Negra</a:t>
            </a:r>
          </a:p>
        </p:txBody>
      </p:sp>
      <p:sp>
        <p:nvSpPr>
          <p:cNvPr id="22" name="TextBox 22"/>
          <p:cNvSpPr txBox="1"/>
          <p:nvPr/>
        </p:nvSpPr>
        <p:spPr>
          <a:xfrm>
            <a:off x="9285684" y="8170364"/>
            <a:ext cx="8010077" cy="1776492"/>
          </a:xfrm>
          <a:prstGeom prst="rect">
            <a:avLst/>
          </a:prstGeom>
        </p:spPr>
        <p:txBody>
          <a:bodyPr lIns="0" tIns="0" rIns="0" bIns="0" rtlCol="0" anchor="t">
            <a:spAutoFit/>
          </a:bodyPr>
          <a:lstStyle/>
          <a:p>
            <a:pPr algn="l">
              <a:lnSpc>
                <a:spcPts val="3561"/>
              </a:lnSpc>
            </a:pPr>
            <a:r>
              <a:rPr lang="en-US" sz="2187">
                <a:solidFill>
                  <a:srgbClr val="5B5F71"/>
                </a:solidFill>
                <a:latin typeface="Arimo"/>
                <a:ea typeface="Arimo"/>
                <a:cs typeface="Arimo"/>
                <a:sym typeface="Arimo"/>
              </a:rPr>
              <a:t>Validación del comportamiento del sistema a partir de entradas y salidas, sin considerar su estructura interna, incluyendo el manejo de códigos válidos, inválidos y errores.</a:t>
            </a:r>
          </a:p>
          <a:p>
            <a:pPr algn="l">
              <a:lnSpc>
                <a:spcPts val="3562"/>
              </a:lnSpc>
            </a:pPr>
            <a:endParaRPr lang="en-US" sz="2187">
              <a:solidFill>
                <a:srgbClr val="5B5F71"/>
              </a:solidFill>
              <a:latin typeface="Arimo"/>
              <a:ea typeface="Arimo"/>
              <a:cs typeface="Arimo"/>
              <a:sym typeface="Arimo"/>
            </a:endParaRPr>
          </a:p>
        </p:txBody>
      </p:sp>
      <p:sp>
        <p:nvSpPr>
          <p:cNvPr id="23" name="TextBox 23"/>
          <p:cNvSpPr txBox="1"/>
          <p:nvPr/>
        </p:nvSpPr>
        <p:spPr>
          <a:xfrm>
            <a:off x="1404846" y="1843413"/>
            <a:ext cx="15761677" cy="768227"/>
          </a:xfrm>
          <a:prstGeom prst="rect">
            <a:avLst/>
          </a:prstGeom>
        </p:spPr>
        <p:txBody>
          <a:bodyPr lIns="0" tIns="0" rIns="0" bIns="0" rtlCol="0" anchor="t">
            <a:spAutoFit/>
          </a:bodyPr>
          <a:lstStyle/>
          <a:p>
            <a:pPr algn="ctr">
              <a:lnSpc>
                <a:spcPts val="3066"/>
              </a:lnSpc>
              <a:spcBef>
                <a:spcPct val="0"/>
              </a:spcBef>
            </a:pPr>
            <a:r>
              <a:rPr lang="en-US" sz="2453">
                <a:solidFill>
                  <a:srgbClr val="505468"/>
                </a:solidFill>
                <a:latin typeface="Arimo"/>
                <a:ea typeface="Arimo"/>
                <a:cs typeface="Arimo"/>
                <a:sym typeface="Arimo"/>
              </a:rPr>
              <a:t>Estas pruebas fueron fundamentales para asegurar que el sistema funcione correctamente en condiciones reales y que los distintos módulos trabajen de manera integrada.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8" y="2309812"/>
            <a:ext cx="9592570" cy="943127"/>
          </a:xfrm>
          <a:prstGeom prst="rect">
            <a:avLst/>
          </a:prstGeom>
        </p:spPr>
        <p:txBody>
          <a:bodyPr lIns="0" tIns="0" rIns="0" bIns="0" rtlCol="0" anchor="t">
            <a:spAutoFit/>
          </a:bodyPr>
          <a:lstStyle/>
          <a:p>
            <a:pPr algn="l">
              <a:lnSpc>
                <a:spcPts val="6937"/>
              </a:lnSpc>
            </a:pPr>
            <a:r>
              <a:rPr lang="en-US" sz="5562" b="1">
                <a:solidFill>
                  <a:srgbClr val="505468"/>
                </a:solidFill>
                <a:latin typeface="Arimo Bold"/>
                <a:ea typeface="Arimo Bold"/>
                <a:cs typeface="Arimo Bold"/>
                <a:sym typeface="Arimo Bold"/>
              </a:rPr>
              <a:t>Casos de Prueba: Resultados</a:t>
            </a:r>
          </a:p>
        </p:txBody>
      </p:sp>
      <p:sp>
        <p:nvSpPr>
          <p:cNvPr id="3" name="TextBox 3"/>
          <p:cNvSpPr txBox="1"/>
          <p:nvPr/>
        </p:nvSpPr>
        <p:spPr>
          <a:xfrm>
            <a:off x="992238" y="3923557"/>
            <a:ext cx="3544043" cy="481012"/>
          </a:xfrm>
          <a:prstGeom prst="rect">
            <a:avLst/>
          </a:prstGeom>
        </p:spPr>
        <p:txBody>
          <a:bodyPr lIns="0" tIns="0" rIns="0" bIns="0" rtlCol="0" anchor="t">
            <a:spAutoFit/>
          </a:bodyPr>
          <a:lstStyle/>
          <a:p>
            <a:pPr algn="l">
              <a:lnSpc>
                <a:spcPts val="3437"/>
              </a:lnSpc>
            </a:pPr>
            <a:r>
              <a:rPr lang="en-US" sz="2750" b="1">
                <a:solidFill>
                  <a:srgbClr val="505468"/>
                </a:solidFill>
                <a:latin typeface="Arimo Bold"/>
                <a:ea typeface="Arimo Bold"/>
                <a:cs typeface="Arimo Bold"/>
                <a:sym typeface="Arimo Bold"/>
              </a:rPr>
              <a:t>Cobertura Completa</a:t>
            </a:r>
          </a:p>
        </p:txBody>
      </p:sp>
      <p:sp>
        <p:nvSpPr>
          <p:cNvPr id="4" name="TextBox 4"/>
          <p:cNvSpPr txBox="1"/>
          <p:nvPr/>
        </p:nvSpPr>
        <p:spPr>
          <a:xfrm>
            <a:off x="992238" y="4583316"/>
            <a:ext cx="7805890" cy="3567271"/>
          </a:xfrm>
          <a:prstGeom prst="rect">
            <a:avLst/>
          </a:prstGeom>
        </p:spPr>
        <p:txBody>
          <a:bodyPr lIns="0" tIns="0" rIns="0" bIns="0" rtlCol="0" anchor="t">
            <a:spAutoFit/>
          </a:bodyPr>
          <a:lstStyle/>
          <a:p>
            <a:pPr algn="l">
              <a:lnSpc>
                <a:spcPts val="3561"/>
              </a:lnSpc>
            </a:pPr>
            <a:r>
              <a:rPr lang="en-US" sz="2187">
                <a:solidFill>
                  <a:srgbClr val="5B5F71"/>
                </a:solidFill>
                <a:latin typeface="Arimo"/>
                <a:ea typeface="Arimo"/>
                <a:cs typeface="Arimo"/>
                <a:sym typeface="Arimo"/>
              </a:rPr>
              <a:t>Se realizaron 12 casos de prueba que abarcaron las principales funcionalidades del sistema, desde el inicio de sesión hasta la actualización en tiempo real del dashboard.</a:t>
            </a:r>
          </a:p>
          <a:p>
            <a:pPr algn="l">
              <a:lnSpc>
                <a:spcPts val="3562"/>
              </a:lnSpc>
            </a:pPr>
            <a:endParaRPr lang="en-US" sz="2187">
              <a:solidFill>
                <a:srgbClr val="5B5F71"/>
              </a:solidFill>
              <a:latin typeface="Arimo"/>
              <a:ea typeface="Arimo"/>
              <a:cs typeface="Arimo"/>
              <a:sym typeface="Arimo"/>
            </a:endParaRPr>
          </a:p>
          <a:p>
            <a:pPr algn="l">
              <a:lnSpc>
                <a:spcPts val="3561"/>
              </a:lnSpc>
            </a:pPr>
            <a:r>
              <a:rPr lang="en-US" sz="2187">
                <a:solidFill>
                  <a:srgbClr val="5B5F71"/>
                </a:solidFill>
                <a:latin typeface="Arimo"/>
                <a:ea typeface="Arimo"/>
                <a:cs typeface="Arimo"/>
                <a:sym typeface="Arimo"/>
              </a:rPr>
              <a:t>Además, se incluyeron tanto escenarios correctos como casos de error, lo que permitió verificar que el sistema responde adecuadamente en distintas situaciones.</a:t>
            </a:r>
          </a:p>
          <a:p>
            <a:pPr algn="l">
              <a:lnSpc>
                <a:spcPts val="3561"/>
              </a:lnSpc>
            </a:pPr>
            <a:endParaRPr lang="en-US" sz="2187">
              <a:solidFill>
                <a:srgbClr val="5B5F71"/>
              </a:solidFill>
              <a:latin typeface="Arimo"/>
              <a:ea typeface="Arimo"/>
              <a:cs typeface="Arimo"/>
              <a:sym typeface="Arimo"/>
            </a:endParaRPr>
          </a:p>
        </p:txBody>
      </p:sp>
      <p:grpSp>
        <p:nvGrpSpPr>
          <p:cNvPr id="5" name="Group 5"/>
          <p:cNvGrpSpPr/>
          <p:nvPr/>
        </p:nvGrpSpPr>
        <p:grpSpPr>
          <a:xfrm>
            <a:off x="9295209" y="3678136"/>
            <a:ext cx="8214274" cy="4241902"/>
            <a:chOff x="0" y="0"/>
            <a:chExt cx="10952366" cy="5655869"/>
          </a:xfrm>
        </p:grpSpPr>
        <p:sp>
          <p:nvSpPr>
            <p:cNvPr id="6" name="Freeform 6"/>
            <p:cNvSpPr/>
            <p:nvPr/>
          </p:nvSpPr>
          <p:spPr>
            <a:xfrm>
              <a:off x="0" y="0"/>
              <a:ext cx="10952353" cy="5655818"/>
            </a:xfrm>
            <a:custGeom>
              <a:avLst/>
              <a:gdLst/>
              <a:ahLst/>
              <a:cxnLst/>
              <a:rect l="l" t="t" r="r" b="b"/>
              <a:pathLst>
                <a:path w="10952353" h="5655818">
                  <a:moveTo>
                    <a:pt x="0" y="272161"/>
                  </a:moveTo>
                  <a:cubicBezTo>
                    <a:pt x="0" y="121920"/>
                    <a:pt x="121920" y="0"/>
                    <a:pt x="272161" y="0"/>
                  </a:cubicBezTo>
                  <a:lnTo>
                    <a:pt x="10680192" y="0"/>
                  </a:lnTo>
                  <a:cubicBezTo>
                    <a:pt x="10830561" y="0"/>
                    <a:pt x="10952353" y="121920"/>
                    <a:pt x="10952353" y="272161"/>
                  </a:cubicBezTo>
                  <a:lnTo>
                    <a:pt x="10952353" y="5383657"/>
                  </a:lnTo>
                  <a:cubicBezTo>
                    <a:pt x="10952353" y="5534025"/>
                    <a:pt x="10830433" y="5655818"/>
                    <a:pt x="10680192" y="5655818"/>
                  </a:cubicBezTo>
                  <a:lnTo>
                    <a:pt x="272161" y="5655818"/>
                  </a:lnTo>
                  <a:cubicBezTo>
                    <a:pt x="121920" y="5655818"/>
                    <a:pt x="0" y="5534025"/>
                    <a:pt x="0" y="5383657"/>
                  </a:cubicBezTo>
                  <a:close/>
                </a:path>
              </a:pathLst>
            </a:custGeom>
            <a:solidFill>
              <a:srgbClr val="505468">
                <a:alpha val="90196"/>
              </a:srgbClr>
            </a:solidFill>
          </p:spPr>
        </p:sp>
      </p:grpSp>
      <p:sp>
        <p:nvSpPr>
          <p:cNvPr id="7" name="TextBox 7"/>
          <p:cNvSpPr txBox="1"/>
          <p:nvPr/>
        </p:nvSpPr>
        <p:spPr>
          <a:xfrm>
            <a:off x="9578731" y="3923557"/>
            <a:ext cx="3544043" cy="481012"/>
          </a:xfrm>
          <a:prstGeom prst="rect">
            <a:avLst/>
          </a:prstGeom>
        </p:spPr>
        <p:txBody>
          <a:bodyPr lIns="0" tIns="0" rIns="0" bIns="0" rtlCol="0" anchor="t">
            <a:spAutoFit/>
          </a:bodyPr>
          <a:lstStyle/>
          <a:p>
            <a:pPr algn="l">
              <a:lnSpc>
                <a:spcPts val="3437"/>
              </a:lnSpc>
            </a:pPr>
            <a:r>
              <a:rPr lang="en-US" sz="2750" b="1">
                <a:solidFill>
                  <a:srgbClr val="FFFFFF"/>
                </a:solidFill>
                <a:latin typeface="Arimo Bold"/>
                <a:ea typeface="Arimo Bold"/>
                <a:cs typeface="Arimo Bold"/>
                <a:sym typeface="Arimo Bold"/>
              </a:rPr>
              <a:t>Resultado Final</a:t>
            </a:r>
          </a:p>
        </p:txBody>
      </p:sp>
      <p:sp>
        <p:nvSpPr>
          <p:cNvPr id="8" name="TextBox 8"/>
          <p:cNvSpPr txBox="1"/>
          <p:nvPr/>
        </p:nvSpPr>
        <p:spPr>
          <a:xfrm>
            <a:off x="9578731" y="4299795"/>
            <a:ext cx="7647232" cy="558403"/>
          </a:xfrm>
          <a:prstGeom prst="rect">
            <a:avLst/>
          </a:prstGeom>
        </p:spPr>
        <p:txBody>
          <a:bodyPr lIns="0" tIns="0" rIns="0" bIns="0" rtlCol="0" anchor="t">
            <a:spAutoFit/>
          </a:bodyPr>
          <a:lstStyle/>
          <a:p>
            <a:pPr algn="l">
              <a:lnSpc>
                <a:spcPts val="3562"/>
              </a:lnSpc>
            </a:pPr>
            <a:r>
              <a:rPr lang="en-US" sz="2187" b="1">
                <a:solidFill>
                  <a:srgbClr val="FFFFFF"/>
                </a:solidFill>
                <a:latin typeface="Arimo Bold"/>
                <a:ea typeface="Arimo Bold"/>
                <a:cs typeface="Arimo Bold"/>
                <a:sym typeface="Arimo Bold"/>
              </a:rPr>
              <a:t>Todos los casos de prueba aprobados satisfactoriamente</a:t>
            </a:r>
          </a:p>
        </p:txBody>
      </p:sp>
      <p:sp>
        <p:nvSpPr>
          <p:cNvPr id="9" name="TextBox 9"/>
          <p:cNvSpPr txBox="1"/>
          <p:nvPr/>
        </p:nvSpPr>
        <p:spPr>
          <a:xfrm>
            <a:off x="9578731" y="4821441"/>
            <a:ext cx="7647232" cy="3119596"/>
          </a:xfrm>
          <a:prstGeom prst="rect">
            <a:avLst/>
          </a:prstGeom>
        </p:spPr>
        <p:txBody>
          <a:bodyPr lIns="0" tIns="0" rIns="0" bIns="0" rtlCol="0" anchor="t">
            <a:spAutoFit/>
          </a:bodyPr>
          <a:lstStyle/>
          <a:p>
            <a:pPr algn="l">
              <a:lnSpc>
                <a:spcPts val="3561"/>
              </a:lnSpc>
            </a:pPr>
            <a:r>
              <a:rPr lang="en-US" sz="2187">
                <a:solidFill>
                  <a:srgbClr val="FFFFFF"/>
                </a:solidFill>
                <a:latin typeface="Arimo"/>
                <a:ea typeface="Arimo"/>
                <a:cs typeface="Arimo"/>
                <a:sym typeface="Arimo"/>
              </a:rPr>
              <a:t>Todos los casos de prueba fueron aprobados, lo que indica que el sistema funciona correctamente en los escenarios evaluados.</a:t>
            </a:r>
          </a:p>
          <a:p>
            <a:pPr algn="l">
              <a:lnSpc>
                <a:spcPts val="3562"/>
              </a:lnSpc>
            </a:pPr>
            <a:r>
              <a:rPr lang="en-US" sz="2187">
                <a:solidFill>
                  <a:srgbClr val="FFFFFF"/>
                </a:solidFill>
                <a:latin typeface="Arimo"/>
                <a:ea typeface="Arimo"/>
                <a:cs typeface="Arimo"/>
                <a:sym typeface="Arimo"/>
              </a:rPr>
              <a:t>Durante las pruebas, el sistema respondió como se esperaba, cumpliendo con los objetivos establecidos y mostrando estabilidad en su funcionamiento.</a:t>
            </a:r>
          </a:p>
          <a:p>
            <a:pPr algn="l">
              <a:lnSpc>
                <a:spcPts val="3561"/>
              </a:lnSpc>
            </a:pPr>
            <a:endParaRPr lang="en-US" sz="2187">
              <a:solidFill>
                <a:srgbClr val="FFFFFF"/>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71550" y="739826"/>
            <a:ext cx="8081515" cy="924516"/>
          </a:xfrm>
          <a:prstGeom prst="rect">
            <a:avLst/>
          </a:prstGeom>
        </p:spPr>
        <p:txBody>
          <a:bodyPr lIns="0" tIns="0" rIns="0" bIns="0" rtlCol="0" anchor="t">
            <a:spAutoFit/>
          </a:bodyPr>
          <a:lstStyle/>
          <a:p>
            <a:pPr algn="l">
              <a:lnSpc>
                <a:spcPts val="6812"/>
              </a:lnSpc>
            </a:pPr>
            <a:r>
              <a:rPr lang="en-US" sz="5437" b="1">
                <a:solidFill>
                  <a:srgbClr val="505468"/>
                </a:solidFill>
                <a:latin typeface="Arimo Bold"/>
                <a:ea typeface="Arimo Bold"/>
                <a:cs typeface="Arimo Bold"/>
                <a:sym typeface="Arimo Bold"/>
              </a:rPr>
              <a:t>Proceso de Implantación</a:t>
            </a:r>
          </a:p>
        </p:txBody>
      </p:sp>
      <p:grpSp>
        <p:nvGrpSpPr>
          <p:cNvPr id="3" name="Group 3"/>
          <p:cNvGrpSpPr/>
          <p:nvPr/>
        </p:nvGrpSpPr>
        <p:grpSpPr>
          <a:xfrm>
            <a:off x="1383211" y="2897086"/>
            <a:ext cx="7629525" cy="287093"/>
            <a:chOff x="0" y="0"/>
            <a:chExt cx="10172700" cy="382791"/>
          </a:xfrm>
        </p:grpSpPr>
        <p:sp>
          <p:nvSpPr>
            <p:cNvPr id="4" name="Freeform 4"/>
            <p:cNvSpPr/>
            <p:nvPr/>
          </p:nvSpPr>
          <p:spPr>
            <a:xfrm>
              <a:off x="6350" y="6350"/>
              <a:ext cx="10160000" cy="370078"/>
            </a:xfrm>
            <a:custGeom>
              <a:avLst/>
              <a:gdLst/>
              <a:ahLst/>
              <a:cxnLst/>
              <a:rect l="l" t="t" r="r" b="b"/>
              <a:pathLst>
                <a:path w="10160000" h="370078">
                  <a:moveTo>
                    <a:pt x="0" y="155448"/>
                  </a:moveTo>
                  <a:cubicBezTo>
                    <a:pt x="0" y="69596"/>
                    <a:pt x="71882" y="0"/>
                    <a:pt x="160655" y="0"/>
                  </a:cubicBezTo>
                  <a:lnTo>
                    <a:pt x="9999345" y="0"/>
                  </a:lnTo>
                  <a:cubicBezTo>
                    <a:pt x="10087990" y="0"/>
                    <a:pt x="10160000" y="69596"/>
                    <a:pt x="10160000" y="155448"/>
                  </a:cubicBezTo>
                  <a:lnTo>
                    <a:pt x="10160000" y="214630"/>
                  </a:lnTo>
                  <a:cubicBezTo>
                    <a:pt x="10160000" y="300482"/>
                    <a:pt x="10088118" y="370078"/>
                    <a:pt x="9999345" y="370078"/>
                  </a:cubicBezTo>
                  <a:lnTo>
                    <a:pt x="160655" y="370078"/>
                  </a:lnTo>
                  <a:cubicBezTo>
                    <a:pt x="71882" y="370078"/>
                    <a:pt x="0" y="300482"/>
                    <a:pt x="0" y="214630"/>
                  </a:cubicBezTo>
                  <a:close/>
                </a:path>
              </a:pathLst>
            </a:custGeom>
            <a:solidFill>
              <a:srgbClr val="E2E3E9"/>
            </a:solidFill>
          </p:spPr>
        </p:sp>
        <p:sp>
          <p:nvSpPr>
            <p:cNvPr id="5" name="Freeform 5"/>
            <p:cNvSpPr/>
            <p:nvPr/>
          </p:nvSpPr>
          <p:spPr>
            <a:xfrm>
              <a:off x="0" y="0"/>
              <a:ext cx="10172700" cy="382778"/>
            </a:xfrm>
            <a:custGeom>
              <a:avLst/>
              <a:gdLst/>
              <a:ahLst/>
              <a:cxnLst/>
              <a:rect l="l" t="t" r="r" b="b"/>
              <a:pathLst>
                <a:path w="10172700" h="382778">
                  <a:moveTo>
                    <a:pt x="0" y="161798"/>
                  </a:moveTo>
                  <a:cubicBezTo>
                    <a:pt x="0" y="72263"/>
                    <a:pt x="74930" y="0"/>
                    <a:pt x="167005" y="0"/>
                  </a:cubicBezTo>
                  <a:lnTo>
                    <a:pt x="10005695" y="0"/>
                  </a:lnTo>
                  <a:lnTo>
                    <a:pt x="10005695" y="6350"/>
                  </a:lnTo>
                  <a:lnTo>
                    <a:pt x="10005695" y="0"/>
                  </a:lnTo>
                  <a:cubicBezTo>
                    <a:pt x="10097770" y="0"/>
                    <a:pt x="10172700" y="72263"/>
                    <a:pt x="10172700" y="161798"/>
                  </a:cubicBezTo>
                  <a:lnTo>
                    <a:pt x="10166350" y="161798"/>
                  </a:lnTo>
                  <a:lnTo>
                    <a:pt x="10172700" y="161798"/>
                  </a:lnTo>
                  <a:lnTo>
                    <a:pt x="10172700" y="220980"/>
                  </a:lnTo>
                  <a:lnTo>
                    <a:pt x="10166350" y="220980"/>
                  </a:lnTo>
                  <a:lnTo>
                    <a:pt x="10172700" y="220980"/>
                  </a:lnTo>
                  <a:cubicBezTo>
                    <a:pt x="10172700" y="310515"/>
                    <a:pt x="10097770" y="382778"/>
                    <a:pt x="10005695" y="382778"/>
                  </a:cubicBezTo>
                  <a:lnTo>
                    <a:pt x="10005695" y="376428"/>
                  </a:lnTo>
                  <a:lnTo>
                    <a:pt x="10005695" y="382778"/>
                  </a:lnTo>
                  <a:lnTo>
                    <a:pt x="167005" y="382778"/>
                  </a:lnTo>
                  <a:lnTo>
                    <a:pt x="167005" y="376428"/>
                  </a:lnTo>
                  <a:lnTo>
                    <a:pt x="167005" y="382778"/>
                  </a:lnTo>
                  <a:cubicBezTo>
                    <a:pt x="74930" y="382778"/>
                    <a:pt x="0" y="310515"/>
                    <a:pt x="0" y="220980"/>
                  </a:cubicBezTo>
                  <a:lnTo>
                    <a:pt x="0" y="161798"/>
                  </a:lnTo>
                  <a:lnTo>
                    <a:pt x="6350" y="161798"/>
                  </a:lnTo>
                  <a:lnTo>
                    <a:pt x="0" y="161798"/>
                  </a:lnTo>
                  <a:moveTo>
                    <a:pt x="12700" y="161798"/>
                  </a:moveTo>
                  <a:lnTo>
                    <a:pt x="12700" y="220980"/>
                  </a:lnTo>
                  <a:lnTo>
                    <a:pt x="6350" y="220980"/>
                  </a:lnTo>
                  <a:lnTo>
                    <a:pt x="12700" y="220980"/>
                  </a:lnTo>
                  <a:cubicBezTo>
                    <a:pt x="12700" y="303149"/>
                    <a:pt x="81534" y="370078"/>
                    <a:pt x="167005" y="370078"/>
                  </a:cubicBezTo>
                  <a:lnTo>
                    <a:pt x="10005695" y="370078"/>
                  </a:lnTo>
                  <a:cubicBezTo>
                    <a:pt x="10091038" y="370078"/>
                    <a:pt x="10160000" y="303149"/>
                    <a:pt x="10160000" y="220980"/>
                  </a:cubicBezTo>
                  <a:lnTo>
                    <a:pt x="10160000" y="161798"/>
                  </a:lnTo>
                  <a:cubicBezTo>
                    <a:pt x="10160000" y="79629"/>
                    <a:pt x="10091166" y="12700"/>
                    <a:pt x="10005695" y="12700"/>
                  </a:cubicBezTo>
                  <a:lnTo>
                    <a:pt x="167005" y="12700"/>
                  </a:lnTo>
                  <a:lnTo>
                    <a:pt x="167005" y="6350"/>
                  </a:lnTo>
                  <a:lnTo>
                    <a:pt x="167005" y="12700"/>
                  </a:lnTo>
                  <a:cubicBezTo>
                    <a:pt x="81534" y="12700"/>
                    <a:pt x="12700" y="79629"/>
                    <a:pt x="12700" y="161798"/>
                  </a:cubicBezTo>
                  <a:close/>
                </a:path>
              </a:pathLst>
            </a:custGeom>
            <a:solidFill>
              <a:srgbClr val="C8C9CF"/>
            </a:solidFill>
          </p:spPr>
        </p:sp>
      </p:grpSp>
      <p:grpSp>
        <p:nvGrpSpPr>
          <p:cNvPr id="6" name="Group 6"/>
          <p:cNvGrpSpPr/>
          <p:nvPr/>
        </p:nvGrpSpPr>
        <p:grpSpPr>
          <a:xfrm>
            <a:off x="966788" y="2619527"/>
            <a:ext cx="842372" cy="842372"/>
            <a:chOff x="0" y="0"/>
            <a:chExt cx="1123163" cy="1123163"/>
          </a:xfrm>
        </p:grpSpPr>
        <p:sp>
          <p:nvSpPr>
            <p:cNvPr id="7" name="Freeform 7"/>
            <p:cNvSpPr/>
            <p:nvPr/>
          </p:nvSpPr>
          <p:spPr>
            <a:xfrm>
              <a:off x="6350" y="6350"/>
              <a:ext cx="1110488" cy="1110488"/>
            </a:xfrm>
            <a:custGeom>
              <a:avLst/>
              <a:gdLst/>
              <a:ahLst/>
              <a:cxnLst/>
              <a:rect l="l" t="t" r="r" b="b"/>
              <a:pathLst>
                <a:path w="1110488" h="1110488">
                  <a:moveTo>
                    <a:pt x="0" y="555244"/>
                  </a:moveTo>
                  <a:cubicBezTo>
                    <a:pt x="0" y="248539"/>
                    <a:pt x="248539" y="0"/>
                    <a:pt x="555244" y="0"/>
                  </a:cubicBezTo>
                  <a:cubicBezTo>
                    <a:pt x="861949" y="0"/>
                    <a:pt x="1110488" y="248539"/>
                    <a:pt x="1110488" y="555244"/>
                  </a:cubicBezTo>
                  <a:cubicBezTo>
                    <a:pt x="1110488" y="861949"/>
                    <a:pt x="861822" y="1110488"/>
                    <a:pt x="555244" y="1110488"/>
                  </a:cubicBezTo>
                  <a:cubicBezTo>
                    <a:pt x="248666" y="1110488"/>
                    <a:pt x="0" y="861822"/>
                    <a:pt x="0" y="555244"/>
                  </a:cubicBezTo>
                  <a:close/>
                </a:path>
              </a:pathLst>
            </a:custGeom>
            <a:solidFill>
              <a:srgbClr val="E2E3E9"/>
            </a:solidFill>
          </p:spPr>
        </p:sp>
        <p:sp>
          <p:nvSpPr>
            <p:cNvPr id="8" name="Freeform 8"/>
            <p:cNvSpPr/>
            <p:nvPr/>
          </p:nvSpPr>
          <p:spPr>
            <a:xfrm>
              <a:off x="0" y="0"/>
              <a:ext cx="1123188" cy="1123188"/>
            </a:xfrm>
            <a:custGeom>
              <a:avLst/>
              <a:gdLst/>
              <a:ahLst/>
              <a:cxnLst/>
              <a:rect l="l" t="t" r="r" b="b"/>
              <a:pathLst>
                <a:path w="1123188" h="1123188">
                  <a:moveTo>
                    <a:pt x="0" y="561594"/>
                  </a:moveTo>
                  <a:cubicBezTo>
                    <a:pt x="0" y="251460"/>
                    <a:pt x="251460" y="0"/>
                    <a:pt x="561594" y="0"/>
                  </a:cubicBezTo>
                  <a:cubicBezTo>
                    <a:pt x="563499" y="0"/>
                    <a:pt x="565404" y="889"/>
                    <a:pt x="566547" y="2413"/>
                  </a:cubicBezTo>
                  <a:lnTo>
                    <a:pt x="561594" y="6350"/>
                  </a:lnTo>
                  <a:lnTo>
                    <a:pt x="561594" y="0"/>
                  </a:lnTo>
                  <a:lnTo>
                    <a:pt x="561594" y="6350"/>
                  </a:lnTo>
                  <a:lnTo>
                    <a:pt x="561594" y="0"/>
                  </a:lnTo>
                  <a:cubicBezTo>
                    <a:pt x="871728" y="0"/>
                    <a:pt x="1123188" y="251460"/>
                    <a:pt x="1123188" y="561594"/>
                  </a:cubicBezTo>
                  <a:cubicBezTo>
                    <a:pt x="1123188" y="564515"/>
                    <a:pt x="1121156" y="567055"/>
                    <a:pt x="1118362" y="567817"/>
                  </a:cubicBezTo>
                  <a:lnTo>
                    <a:pt x="1116838" y="561594"/>
                  </a:lnTo>
                  <a:lnTo>
                    <a:pt x="1123188" y="561594"/>
                  </a:lnTo>
                  <a:cubicBezTo>
                    <a:pt x="1123188" y="871728"/>
                    <a:pt x="871728" y="1123188"/>
                    <a:pt x="561594" y="1123188"/>
                  </a:cubicBezTo>
                  <a:lnTo>
                    <a:pt x="561594" y="1116838"/>
                  </a:lnTo>
                  <a:lnTo>
                    <a:pt x="561594" y="1123188"/>
                  </a:lnTo>
                  <a:cubicBezTo>
                    <a:pt x="251460" y="1123188"/>
                    <a:pt x="0" y="871728"/>
                    <a:pt x="0" y="561594"/>
                  </a:cubicBezTo>
                  <a:lnTo>
                    <a:pt x="6350" y="561594"/>
                  </a:lnTo>
                  <a:lnTo>
                    <a:pt x="0" y="561594"/>
                  </a:lnTo>
                  <a:moveTo>
                    <a:pt x="12700" y="561594"/>
                  </a:moveTo>
                  <a:lnTo>
                    <a:pt x="6350" y="561594"/>
                  </a:lnTo>
                  <a:lnTo>
                    <a:pt x="12700" y="561594"/>
                  </a:lnTo>
                  <a:cubicBezTo>
                    <a:pt x="12700" y="864743"/>
                    <a:pt x="258445" y="1110488"/>
                    <a:pt x="561594" y="1110488"/>
                  </a:cubicBezTo>
                  <a:cubicBezTo>
                    <a:pt x="864743" y="1110488"/>
                    <a:pt x="1110488" y="864743"/>
                    <a:pt x="1110488" y="561594"/>
                  </a:cubicBezTo>
                  <a:cubicBezTo>
                    <a:pt x="1110488" y="558673"/>
                    <a:pt x="1112520" y="556133"/>
                    <a:pt x="1115314" y="555371"/>
                  </a:cubicBezTo>
                  <a:lnTo>
                    <a:pt x="1116838" y="561594"/>
                  </a:lnTo>
                  <a:lnTo>
                    <a:pt x="1110488" y="561594"/>
                  </a:lnTo>
                  <a:cubicBezTo>
                    <a:pt x="1110488" y="258445"/>
                    <a:pt x="864743" y="12700"/>
                    <a:pt x="561594" y="12700"/>
                  </a:cubicBezTo>
                  <a:cubicBezTo>
                    <a:pt x="559689" y="12700"/>
                    <a:pt x="557784" y="11811"/>
                    <a:pt x="556641" y="10287"/>
                  </a:cubicBezTo>
                  <a:lnTo>
                    <a:pt x="561594" y="6350"/>
                  </a:lnTo>
                  <a:lnTo>
                    <a:pt x="561594" y="12700"/>
                  </a:lnTo>
                  <a:cubicBezTo>
                    <a:pt x="258445" y="12700"/>
                    <a:pt x="12700" y="258445"/>
                    <a:pt x="12700" y="561594"/>
                  </a:cubicBezTo>
                  <a:close/>
                </a:path>
              </a:pathLst>
            </a:custGeom>
            <a:solidFill>
              <a:srgbClr val="C8C9CF"/>
            </a:solidFill>
          </p:spPr>
        </p:sp>
      </p:grpSp>
      <p:sp>
        <p:nvSpPr>
          <p:cNvPr id="9" name="Freeform 9" descr="preencoded.png"/>
          <p:cNvSpPr/>
          <p:nvPr/>
        </p:nvSpPr>
        <p:spPr>
          <a:xfrm>
            <a:off x="1179757" y="2832497"/>
            <a:ext cx="416423" cy="416423"/>
          </a:xfrm>
          <a:custGeom>
            <a:avLst/>
            <a:gdLst/>
            <a:ahLst/>
            <a:cxnLst/>
            <a:rect l="l" t="t" r="r" b="b"/>
            <a:pathLst>
              <a:path w="416423" h="416423">
                <a:moveTo>
                  <a:pt x="0" y="0"/>
                </a:moveTo>
                <a:lnTo>
                  <a:pt x="416423" y="0"/>
                </a:lnTo>
                <a:lnTo>
                  <a:pt x="416423" y="416423"/>
                </a:lnTo>
                <a:lnTo>
                  <a:pt x="0" y="416423"/>
                </a:lnTo>
                <a:lnTo>
                  <a:pt x="0" y="0"/>
                </a:lnTo>
                <a:close/>
              </a:path>
            </a:pathLst>
          </a:custGeom>
          <a:blipFill>
            <a:blip r:embed="rId3">
              <a:extLst>
                <a:ext uri="{96DAC541-7B7A-43D3-8B79-37D633B846F1}">
                  <asvg:svgBlip xmlns:asvg="http://schemas.microsoft.com/office/drawing/2016/SVG/main" r:embed="rId4"/>
                </a:ext>
              </a:extLst>
            </a:blip>
            <a:stretch>
              <a:fillRect l="-6818" r="-6816"/>
            </a:stretch>
          </a:blipFill>
        </p:spPr>
      </p:sp>
      <p:sp>
        <p:nvSpPr>
          <p:cNvPr id="10" name="TextBox 10"/>
          <p:cNvSpPr txBox="1"/>
          <p:nvPr/>
        </p:nvSpPr>
        <p:spPr>
          <a:xfrm>
            <a:off x="1249118" y="3700310"/>
            <a:ext cx="5167760" cy="405432"/>
          </a:xfrm>
          <a:prstGeom prst="rect">
            <a:avLst/>
          </a:prstGeom>
        </p:spPr>
        <p:txBody>
          <a:bodyPr wrap="square" lIns="0" tIns="0" rIns="0" bIns="0" rtlCol="0" anchor="t">
            <a:spAutoFit/>
          </a:bodyPr>
          <a:lstStyle/>
          <a:p>
            <a:pPr algn="l">
              <a:lnSpc>
                <a:spcPts val="3374"/>
              </a:lnSpc>
            </a:pPr>
            <a:r>
              <a:rPr lang="en-US" sz="2687" b="1" dirty="0" err="1">
                <a:solidFill>
                  <a:srgbClr val="5B5F71"/>
                </a:solidFill>
                <a:latin typeface="Arimo Bold"/>
                <a:ea typeface="Arimo Bold"/>
                <a:cs typeface="Arimo Bold"/>
                <a:sym typeface="Arimo Bold"/>
              </a:rPr>
              <a:t>Configuración</a:t>
            </a:r>
            <a:r>
              <a:rPr lang="en-US" sz="2687" b="1" dirty="0">
                <a:solidFill>
                  <a:srgbClr val="5B5F71"/>
                </a:solidFill>
                <a:latin typeface="Arimo Bold"/>
                <a:ea typeface="Arimo Bold"/>
                <a:cs typeface="Arimo Bold"/>
                <a:sym typeface="Arimo Bold"/>
              </a:rPr>
              <a:t> del </a:t>
            </a:r>
            <a:r>
              <a:rPr lang="en-US" sz="2687" b="1" dirty="0" err="1">
                <a:solidFill>
                  <a:srgbClr val="5B5F71"/>
                </a:solidFill>
                <a:latin typeface="Arimo Bold"/>
                <a:ea typeface="Arimo Bold"/>
                <a:cs typeface="Arimo Bold"/>
                <a:sym typeface="Arimo Bold"/>
              </a:rPr>
              <a:t>Entorno</a:t>
            </a:r>
            <a:endParaRPr lang="en-US" sz="2687" b="1" dirty="0">
              <a:solidFill>
                <a:srgbClr val="5B5F71"/>
              </a:solidFill>
              <a:latin typeface="Arimo Bold"/>
              <a:ea typeface="Arimo Bold"/>
              <a:cs typeface="Arimo Bold"/>
              <a:sym typeface="Arimo Bold"/>
            </a:endParaRPr>
          </a:p>
        </p:txBody>
      </p:sp>
      <p:sp>
        <p:nvSpPr>
          <p:cNvPr id="11" name="TextBox 11"/>
          <p:cNvSpPr txBox="1"/>
          <p:nvPr/>
        </p:nvSpPr>
        <p:spPr>
          <a:xfrm>
            <a:off x="1249118" y="4239968"/>
            <a:ext cx="7481440" cy="1756424"/>
          </a:xfrm>
          <a:prstGeom prst="rect">
            <a:avLst/>
          </a:prstGeom>
        </p:spPr>
        <p:txBody>
          <a:bodyPr lIns="0" tIns="0" rIns="0" bIns="0" rtlCol="0" anchor="t">
            <a:spAutoFit/>
          </a:bodyPr>
          <a:lstStyle/>
          <a:p>
            <a:pPr algn="l">
              <a:lnSpc>
                <a:spcPts val="2789"/>
              </a:lnSpc>
            </a:pPr>
            <a:r>
              <a:rPr lang="en-US" sz="1725">
                <a:solidFill>
                  <a:srgbClr val="5B5F71"/>
                </a:solidFill>
                <a:latin typeface="Arimo"/>
                <a:ea typeface="Arimo"/>
                <a:cs typeface="Arimo"/>
                <a:sym typeface="Arimo"/>
              </a:rPr>
              <a:t>El sistema fue preparado para su uso en línea mediante su despliegue en Vercel, lo que permite acceder desde cualquier dispositivo con conexión a internet.</a:t>
            </a:r>
          </a:p>
          <a:p>
            <a:pPr algn="l">
              <a:lnSpc>
                <a:spcPts val="2790"/>
              </a:lnSpc>
            </a:pPr>
            <a:r>
              <a:rPr lang="en-US" sz="1725">
                <a:solidFill>
                  <a:srgbClr val="5B5F71"/>
                </a:solidFill>
                <a:latin typeface="Arimo"/>
                <a:ea typeface="Arimo"/>
                <a:cs typeface="Arimo"/>
                <a:sym typeface="Arimo"/>
              </a:rPr>
              <a:t> Además, se verificó la conexión con la base de datos en Supabase para asegurar el correcto funcionamiento en tiempo real.</a:t>
            </a:r>
          </a:p>
        </p:txBody>
      </p:sp>
      <p:grpSp>
        <p:nvGrpSpPr>
          <p:cNvPr id="12" name="Group 12"/>
          <p:cNvGrpSpPr/>
          <p:nvPr/>
        </p:nvGrpSpPr>
        <p:grpSpPr>
          <a:xfrm>
            <a:off x="9691535" y="2480672"/>
            <a:ext cx="7629525" cy="287093"/>
            <a:chOff x="0" y="0"/>
            <a:chExt cx="10172700" cy="382791"/>
          </a:xfrm>
        </p:grpSpPr>
        <p:sp>
          <p:nvSpPr>
            <p:cNvPr id="13" name="Freeform 13"/>
            <p:cNvSpPr/>
            <p:nvPr/>
          </p:nvSpPr>
          <p:spPr>
            <a:xfrm>
              <a:off x="6350" y="6350"/>
              <a:ext cx="10160000" cy="370078"/>
            </a:xfrm>
            <a:custGeom>
              <a:avLst/>
              <a:gdLst/>
              <a:ahLst/>
              <a:cxnLst/>
              <a:rect l="l" t="t" r="r" b="b"/>
              <a:pathLst>
                <a:path w="10160000" h="370078">
                  <a:moveTo>
                    <a:pt x="0" y="155448"/>
                  </a:moveTo>
                  <a:cubicBezTo>
                    <a:pt x="0" y="69596"/>
                    <a:pt x="71882" y="0"/>
                    <a:pt x="160655" y="0"/>
                  </a:cubicBezTo>
                  <a:lnTo>
                    <a:pt x="9999345" y="0"/>
                  </a:lnTo>
                  <a:cubicBezTo>
                    <a:pt x="10087990" y="0"/>
                    <a:pt x="10160000" y="69596"/>
                    <a:pt x="10160000" y="155448"/>
                  </a:cubicBezTo>
                  <a:lnTo>
                    <a:pt x="10160000" y="214630"/>
                  </a:lnTo>
                  <a:cubicBezTo>
                    <a:pt x="10160000" y="300482"/>
                    <a:pt x="10088118" y="370078"/>
                    <a:pt x="9999345" y="370078"/>
                  </a:cubicBezTo>
                  <a:lnTo>
                    <a:pt x="160655" y="370078"/>
                  </a:lnTo>
                  <a:cubicBezTo>
                    <a:pt x="71882" y="370078"/>
                    <a:pt x="0" y="300482"/>
                    <a:pt x="0" y="214630"/>
                  </a:cubicBezTo>
                  <a:close/>
                </a:path>
              </a:pathLst>
            </a:custGeom>
            <a:solidFill>
              <a:srgbClr val="E2E3E9"/>
            </a:solidFill>
          </p:spPr>
        </p:sp>
        <p:sp>
          <p:nvSpPr>
            <p:cNvPr id="14" name="Freeform 14"/>
            <p:cNvSpPr/>
            <p:nvPr/>
          </p:nvSpPr>
          <p:spPr>
            <a:xfrm>
              <a:off x="0" y="0"/>
              <a:ext cx="10172700" cy="382778"/>
            </a:xfrm>
            <a:custGeom>
              <a:avLst/>
              <a:gdLst/>
              <a:ahLst/>
              <a:cxnLst/>
              <a:rect l="l" t="t" r="r" b="b"/>
              <a:pathLst>
                <a:path w="10172700" h="382778">
                  <a:moveTo>
                    <a:pt x="0" y="161798"/>
                  </a:moveTo>
                  <a:cubicBezTo>
                    <a:pt x="0" y="72263"/>
                    <a:pt x="74930" y="0"/>
                    <a:pt x="167005" y="0"/>
                  </a:cubicBezTo>
                  <a:lnTo>
                    <a:pt x="10005695" y="0"/>
                  </a:lnTo>
                  <a:lnTo>
                    <a:pt x="10005695" y="6350"/>
                  </a:lnTo>
                  <a:lnTo>
                    <a:pt x="10005695" y="0"/>
                  </a:lnTo>
                  <a:cubicBezTo>
                    <a:pt x="10097770" y="0"/>
                    <a:pt x="10172700" y="72263"/>
                    <a:pt x="10172700" y="161798"/>
                  </a:cubicBezTo>
                  <a:lnTo>
                    <a:pt x="10166350" y="161798"/>
                  </a:lnTo>
                  <a:lnTo>
                    <a:pt x="10172700" y="161798"/>
                  </a:lnTo>
                  <a:lnTo>
                    <a:pt x="10172700" y="220980"/>
                  </a:lnTo>
                  <a:lnTo>
                    <a:pt x="10166350" y="220980"/>
                  </a:lnTo>
                  <a:lnTo>
                    <a:pt x="10172700" y="220980"/>
                  </a:lnTo>
                  <a:cubicBezTo>
                    <a:pt x="10172700" y="310515"/>
                    <a:pt x="10097770" y="382778"/>
                    <a:pt x="10005695" y="382778"/>
                  </a:cubicBezTo>
                  <a:lnTo>
                    <a:pt x="10005695" y="376428"/>
                  </a:lnTo>
                  <a:lnTo>
                    <a:pt x="10005695" y="382778"/>
                  </a:lnTo>
                  <a:lnTo>
                    <a:pt x="167005" y="382778"/>
                  </a:lnTo>
                  <a:lnTo>
                    <a:pt x="167005" y="376428"/>
                  </a:lnTo>
                  <a:lnTo>
                    <a:pt x="167005" y="382778"/>
                  </a:lnTo>
                  <a:cubicBezTo>
                    <a:pt x="74930" y="382778"/>
                    <a:pt x="0" y="310515"/>
                    <a:pt x="0" y="220980"/>
                  </a:cubicBezTo>
                  <a:lnTo>
                    <a:pt x="0" y="161798"/>
                  </a:lnTo>
                  <a:lnTo>
                    <a:pt x="6350" y="161798"/>
                  </a:lnTo>
                  <a:lnTo>
                    <a:pt x="0" y="161798"/>
                  </a:lnTo>
                  <a:moveTo>
                    <a:pt x="12700" y="161798"/>
                  </a:moveTo>
                  <a:lnTo>
                    <a:pt x="12700" y="220980"/>
                  </a:lnTo>
                  <a:lnTo>
                    <a:pt x="6350" y="220980"/>
                  </a:lnTo>
                  <a:lnTo>
                    <a:pt x="12700" y="220980"/>
                  </a:lnTo>
                  <a:cubicBezTo>
                    <a:pt x="12700" y="303149"/>
                    <a:pt x="81534" y="370078"/>
                    <a:pt x="167005" y="370078"/>
                  </a:cubicBezTo>
                  <a:lnTo>
                    <a:pt x="10005695" y="370078"/>
                  </a:lnTo>
                  <a:cubicBezTo>
                    <a:pt x="10091038" y="370078"/>
                    <a:pt x="10160000" y="303149"/>
                    <a:pt x="10160000" y="220980"/>
                  </a:cubicBezTo>
                  <a:lnTo>
                    <a:pt x="10160000" y="161798"/>
                  </a:lnTo>
                  <a:cubicBezTo>
                    <a:pt x="10160000" y="79629"/>
                    <a:pt x="10091166" y="12700"/>
                    <a:pt x="10005695" y="12700"/>
                  </a:cubicBezTo>
                  <a:lnTo>
                    <a:pt x="167005" y="12700"/>
                  </a:lnTo>
                  <a:lnTo>
                    <a:pt x="167005" y="6350"/>
                  </a:lnTo>
                  <a:lnTo>
                    <a:pt x="167005" y="12700"/>
                  </a:lnTo>
                  <a:cubicBezTo>
                    <a:pt x="81534" y="12700"/>
                    <a:pt x="12700" y="79629"/>
                    <a:pt x="12700" y="161798"/>
                  </a:cubicBezTo>
                  <a:close/>
                </a:path>
              </a:pathLst>
            </a:custGeom>
            <a:solidFill>
              <a:srgbClr val="C8C9CF"/>
            </a:solidFill>
          </p:spPr>
        </p:sp>
      </p:grpSp>
      <p:grpSp>
        <p:nvGrpSpPr>
          <p:cNvPr id="15" name="Group 15"/>
          <p:cNvGrpSpPr/>
          <p:nvPr/>
        </p:nvGrpSpPr>
        <p:grpSpPr>
          <a:xfrm>
            <a:off x="9275121" y="2203104"/>
            <a:ext cx="842372" cy="842372"/>
            <a:chOff x="0" y="0"/>
            <a:chExt cx="1123163" cy="1123163"/>
          </a:xfrm>
        </p:grpSpPr>
        <p:sp>
          <p:nvSpPr>
            <p:cNvPr id="16" name="Freeform 16"/>
            <p:cNvSpPr/>
            <p:nvPr/>
          </p:nvSpPr>
          <p:spPr>
            <a:xfrm>
              <a:off x="6350" y="6350"/>
              <a:ext cx="1110488" cy="1110488"/>
            </a:xfrm>
            <a:custGeom>
              <a:avLst/>
              <a:gdLst/>
              <a:ahLst/>
              <a:cxnLst/>
              <a:rect l="l" t="t" r="r" b="b"/>
              <a:pathLst>
                <a:path w="1110488" h="1110488">
                  <a:moveTo>
                    <a:pt x="0" y="555244"/>
                  </a:moveTo>
                  <a:cubicBezTo>
                    <a:pt x="0" y="248539"/>
                    <a:pt x="248539" y="0"/>
                    <a:pt x="555244" y="0"/>
                  </a:cubicBezTo>
                  <a:cubicBezTo>
                    <a:pt x="861949" y="0"/>
                    <a:pt x="1110488" y="248539"/>
                    <a:pt x="1110488" y="555244"/>
                  </a:cubicBezTo>
                  <a:cubicBezTo>
                    <a:pt x="1110488" y="861949"/>
                    <a:pt x="861822" y="1110488"/>
                    <a:pt x="555244" y="1110488"/>
                  </a:cubicBezTo>
                  <a:cubicBezTo>
                    <a:pt x="248666" y="1110488"/>
                    <a:pt x="0" y="861822"/>
                    <a:pt x="0" y="555244"/>
                  </a:cubicBezTo>
                  <a:close/>
                </a:path>
              </a:pathLst>
            </a:custGeom>
            <a:solidFill>
              <a:srgbClr val="E2E3E9"/>
            </a:solidFill>
          </p:spPr>
        </p:sp>
        <p:sp>
          <p:nvSpPr>
            <p:cNvPr id="17" name="Freeform 17"/>
            <p:cNvSpPr/>
            <p:nvPr/>
          </p:nvSpPr>
          <p:spPr>
            <a:xfrm>
              <a:off x="0" y="0"/>
              <a:ext cx="1123188" cy="1123188"/>
            </a:xfrm>
            <a:custGeom>
              <a:avLst/>
              <a:gdLst/>
              <a:ahLst/>
              <a:cxnLst/>
              <a:rect l="l" t="t" r="r" b="b"/>
              <a:pathLst>
                <a:path w="1123188" h="1123188">
                  <a:moveTo>
                    <a:pt x="0" y="561594"/>
                  </a:moveTo>
                  <a:cubicBezTo>
                    <a:pt x="0" y="251460"/>
                    <a:pt x="251460" y="0"/>
                    <a:pt x="561594" y="0"/>
                  </a:cubicBezTo>
                  <a:cubicBezTo>
                    <a:pt x="563499" y="0"/>
                    <a:pt x="565404" y="889"/>
                    <a:pt x="566547" y="2413"/>
                  </a:cubicBezTo>
                  <a:lnTo>
                    <a:pt x="561594" y="6350"/>
                  </a:lnTo>
                  <a:lnTo>
                    <a:pt x="561594" y="0"/>
                  </a:lnTo>
                  <a:lnTo>
                    <a:pt x="561594" y="6350"/>
                  </a:lnTo>
                  <a:lnTo>
                    <a:pt x="561594" y="0"/>
                  </a:lnTo>
                  <a:cubicBezTo>
                    <a:pt x="871728" y="0"/>
                    <a:pt x="1123188" y="251460"/>
                    <a:pt x="1123188" y="561594"/>
                  </a:cubicBezTo>
                  <a:cubicBezTo>
                    <a:pt x="1123188" y="564515"/>
                    <a:pt x="1121156" y="567055"/>
                    <a:pt x="1118362" y="567817"/>
                  </a:cubicBezTo>
                  <a:lnTo>
                    <a:pt x="1116838" y="561594"/>
                  </a:lnTo>
                  <a:lnTo>
                    <a:pt x="1123188" y="561594"/>
                  </a:lnTo>
                  <a:cubicBezTo>
                    <a:pt x="1123188" y="871728"/>
                    <a:pt x="871728" y="1123188"/>
                    <a:pt x="561594" y="1123188"/>
                  </a:cubicBezTo>
                  <a:lnTo>
                    <a:pt x="561594" y="1116838"/>
                  </a:lnTo>
                  <a:lnTo>
                    <a:pt x="561594" y="1123188"/>
                  </a:lnTo>
                  <a:cubicBezTo>
                    <a:pt x="251460" y="1123188"/>
                    <a:pt x="0" y="871728"/>
                    <a:pt x="0" y="561594"/>
                  </a:cubicBezTo>
                  <a:lnTo>
                    <a:pt x="6350" y="561594"/>
                  </a:lnTo>
                  <a:lnTo>
                    <a:pt x="0" y="561594"/>
                  </a:lnTo>
                  <a:moveTo>
                    <a:pt x="12700" y="561594"/>
                  </a:moveTo>
                  <a:lnTo>
                    <a:pt x="6350" y="561594"/>
                  </a:lnTo>
                  <a:lnTo>
                    <a:pt x="12700" y="561594"/>
                  </a:lnTo>
                  <a:cubicBezTo>
                    <a:pt x="12700" y="864743"/>
                    <a:pt x="258445" y="1110488"/>
                    <a:pt x="561594" y="1110488"/>
                  </a:cubicBezTo>
                  <a:cubicBezTo>
                    <a:pt x="864743" y="1110488"/>
                    <a:pt x="1110488" y="864743"/>
                    <a:pt x="1110488" y="561594"/>
                  </a:cubicBezTo>
                  <a:cubicBezTo>
                    <a:pt x="1110488" y="558673"/>
                    <a:pt x="1112520" y="556133"/>
                    <a:pt x="1115314" y="555371"/>
                  </a:cubicBezTo>
                  <a:lnTo>
                    <a:pt x="1116838" y="561594"/>
                  </a:lnTo>
                  <a:lnTo>
                    <a:pt x="1110488" y="561594"/>
                  </a:lnTo>
                  <a:cubicBezTo>
                    <a:pt x="1110488" y="258445"/>
                    <a:pt x="864743" y="12700"/>
                    <a:pt x="561594" y="12700"/>
                  </a:cubicBezTo>
                  <a:cubicBezTo>
                    <a:pt x="559689" y="12700"/>
                    <a:pt x="557784" y="11811"/>
                    <a:pt x="556641" y="10287"/>
                  </a:cubicBezTo>
                  <a:lnTo>
                    <a:pt x="561594" y="6350"/>
                  </a:lnTo>
                  <a:lnTo>
                    <a:pt x="561594" y="12700"/>
                  </a:lnTo>
                  <a:cubicBezTo>
                    <a:pt x="258445" y="12700"/>
                    <a:pt x="12700" y="258445"/>
                    <a:pt x="12700" y="561594"/>
                  </a:cubicBezTo>
                  <a:close/>
                </a:path>
              </a:pathLst>
            </a:custGeom>
            <a:solidFill>
              <a:srgbClr val="C8C9CF"/>
            </a:solidFill>
          </p:spPr>
        </p:sp>
      </p:grpSp>
      <p:sp>
        <p:nvSpPr>
          <p:cNvPr id="18" name="Freeform 18" descr="preencoded.png"/>
          <p:cNvSpPr/>
          <p:nvPr/>
        </p:nvSpPr>
        <p:spPr>
          <a:xfrm>
            <a:off x="9488091" y="2416073"/>
            <a:ext cx="416423" cy="416423"/>
          </a:xfrm>
          <a:custGeom>
            <a:avLst/>
            <a:gdLst/>
            <a:ahLst/>
            <a:cxnLst/>
            <a:rect l="l" t="t" r="r" b="b"/>
            <a:pathLst>
              <a:path w="416423" h="416423">
                <a:moveTo>
                  <a:pt x="0" y="0"/>
                </a:moveTo>
                <a:lnTo>
                  <a:pt x="416423" y="0"/>
                </a:lnTo>
                <a:lnTo>
                  <a:pt x="416423" y="416424"/>
                </a:lnTo>
                <a:lnTo>
                  <a:pt x="0" y="416424"/>
                </a:lnTo>
                <a:lnTo>
                  <a:pt x="0" y="0"/>
                </a:lnTo>
                <a:close/>
              </a:path>
            </a:pathLst>
          </a:custGeom>
          <a:blipFill>
            <a:blip r:embed="rId5">
              <a:extLst>
                <a:ext uri="{96DAC541-7B7A-43D3-8B79-37D633B846F1}">
                  <asvg:svgBlip xmlns:asvg="http://schemas.microsoft.com/office/drawing/2016/SVG/main" r:embed="rId6"/>
                </a:ext>
              </a:extLst>
            </a:blip>
            <a:stretch>
              <a:fillRect t="-22726" b="-22726"/>
            </a:stretch>
          </a:blipFill>
        </p:spPr>
      </p:sp>
      <p:sp>
        <p:nvSpPr>
          <p:cNvPr id="19" name="TextBox 19"/>
          <p:cNvSpPr txBox="1"/>
          <p:nvPr/>
        </p:nvSpPr>
        <p:spPr>
          <a:xfrm>
            <a:off x="9557442" y="3283895"/>
            <a:ext cx="5453958" cy="405432"/>
          </a:xfrm>
          <a:prstGeom prst="rect">
            <a:avLst/>
          </a:prstGeom>
        </p:spPr>
        <p:txBody>
          <a:bodyPr wrap="square" lIns="0" tIns="0" rIns="0" bIns="0" rtlCol="0" anchor="t">
            <a:spAutoFit/>
          </a:bodyPr>
          <a:lstStyle/>
          <a:p>
            <a:pPr algn="l">
              <a:lnSpc>
                <a:spcPts val="3374"/>
              </a:lnSpc>
            </a:pPr>
            <a:r>
              <a:rPr lang="en-US" sz="2687" b="1" dirty="0" err="1">
                <a:solidFill>
                  <a:srgbClr val="5B5F71"/>
                </a:solidFill>
                <a:latin typeface="Arimo Bold"/>
                <a:ea typeface="Arimo Bold"/>
                <a:cs typeface="Arimo Bold"/>
                <a:sym typeface="Arimo Bold"/>
              </a:rPr>
              <a:t>Instalación</a:t>
            </a:r>
            <a:r>
              <a:rPr lang="en-US" sz="2687" b="1" dirty="0">
                <a:solidFill>
                  <a:srgbClr val="5B5F71"/>
                </a:solidFill>
                <a:latin typeface="Arimo Bold"/>
                <a:ea typeface="Arimo Bold"/>
                <a:cs typeface="Arimo Bold"/>
                <a:sym typeface="Arimo Bold"/>
              </a:rPr>
              <a:t> de </a:t>
            </a:r>
            <a:r>
              <a:rPr lang="en-US" sz="2687" b="1" dirty="0" err="1">
                <a:solidFill>
                  <a:srgbClr val="5B5F71"/>
                </a:solidFill>
                <a:latin typeface="Arimo Bold"/>
                <a:ea typeface="Arimo Bold"/>
                <a:cs typeface="Arimo Bold"/>
                <a:sym typeface="Arimo Bold"/>
              </a:rPr>
              <a:t>Dependencias</a:t>
            </a:r>
            <a:endParaRPr lang="en-US" sz="2687" b="1" dirty="0">
              <a:solidFill>
                <a:srgbClr val="5B5F71"/>
              </a:solidFill>
              <a:latin typeface="Arimo Bold"/>
              <a:ea typeface="Arimo Bold"/>
              <a:cs typeface="Arimo Bold"/>
              <a:sym typeface="Arimo Bold"/>
            </a:endParaRPr>
          </a:p>
        </p:txBody>
      </p:sp>
      <p:sp>
        <p:nvSpPr>
          <p:cNvPr id="20" name="TextBox 20"/>
          <p:cNvSpPr txBox="1"/>
          <p:nvPr/>
        </p:nvSpPr>
        <p:spPr>
          <a:xfrm>
            <a:off x="9557442" y="3814020"/>
            <a:ext cx="7481440" cy="973931"/>
          </a:xfrm>
          <a:prstGeom prst="rect">
            <a:avLst/>
          </a:prstGeom>
        </p:spPr>
        <p:txBody>
          <a:bodyPr lIns="0" tIns="0" rIns="0" bIns="0" rtlCol="0" anchor="t">
            <a:spAutoFit/>
          </a:bodyPr>
          <a:lstStyle/>
          <a:p>
            <a:pPr algn="l">
              <a:lnSpc>
                <a:spcPts val="3437"/>
              </a:lnSpc>
            </a:pPr>
            <a:r>
              <a:rPr lang="en-US" sz="2125" dirty="0" err="1">
                <a:solidFill>
                  <a:srgbClr val="5B5F71"/>
                </a:solidFill>
                <a:latin typeface="Arimo"/>
                <a:ea typeface="Arimo"/>
                <a:cs typeface="Arimo"/>
                <a:sym typeface="Arimo"/>
              </a:rPr>
              <a:t>Supabase</a:t>
            </a:r>
            <a:r>
              <a:rPr lang="en-US" sz="2125" dirty="0">
                <a:solidFill>
                  <a:srgbClr val="5B5F71"/>
                </a:solidFill>
                <a:latin typeface="Arimo"/>
                <a:ea typeface="Arimo"/>
                <a:cs typeface="Arimo"/>
                <a:sym typeface="Arimo"/>
              </a:rPr>
              <a:t> JS Client, html5-qrcode, </a:t>
            </a:r>
            <a:r>
              <a:rPr lang="en-US" sz="2125" dirty="0" err="1">
                <a:solidFill>
                  <a:srgbClr val="5B5F71"/>
                </a:solidFill>
                <a:latin typeface="Arimo"/>
                <a:ea typeface="Arimo"/>
                <a:cs typeface="Arimo"/>
                <a:sym typeface="Arimo"/>
              </a:rPr>
              <a:t>qrcodejs</a:t>
            </a:r>
            <a:r>
              <a:rPr lang="en-US" sz="2125" dirty="0">
                <a:solidFill>
                  <a:srgbClr val="5B5F71"/>
                </a:solidFill>
                <a:latin typeface="Arimo"/>
                <a:ea typeface="Arimo"/>
                <a:cs typeface="Arimo"/>
                <a:sym typeface="Arimo"/>
              </a:rPr>
              <a:t>, html2canvas y Google Fonts </a:t>
            </a:r>
            <a:r>
              <a:rPr lang="en-US" sz="2125" dirty="0" err="1">
                <a:solidFill>
                  <a:srgbClr val="5B5F71"/>
                </a:solidFill>
                <a:latin typeface="Arimo"/>
                <a:ea typeface="Arimo"/>
                <a:cs typeface="Arimo"/>
                <a:sym typeface="Arimo"/>
              </a:rPr>
              <a:t>cargados</a:t>
            </a:r>
            <a:r>
              <a:rPr lang="en-US" sz="2125" dirty="0">
                <a:solidFill>
                  <a:srgbClr val="5B5F71"/>
                </a:solidFill>
                <a:latin typeface="Arimo"/>
                <a:ea typeface="Arimo"/>
                <a:cs typeface="Arimo"/>
                <a:sym typeface="Arimo"/>
              </a:rPr>
              <a:t> </a:t>
            </a:r>
            <a:r>
              <a:rPr lang="en-US" sz="2125" dirty="0" err="1">
                <a:solidFill>
                  <a:srgbClr val="5B5F71"/>
                </a:solidFill>
                <a:latin typeface="Arimo"/>
                <a:ea typeface="Arimo"/>
                <a:cs typeface="Arimo"/>
                <a:sym typeface="Arimo"/>
              </a:rPr>
              <a:t>vía</a:t>
            </a:r>
            <a:r>
              <a:rPr lang="en-US" sz="2125" dirty="0">
                <a:solidFill>
                  <a:srgbClr val="5B5F71"/>
                </a:solidFill>
                <a:latin typeface="Arimo"/>
                <a:ea typeface="Arimo"/>
                <a:cs typeface="Arimo"/>
                <a:sym typeface="Arimo"/>
              </a:rPr>
              <a:t> CDN</a:t>
            </a:r>
          </a:p>
        </p:txBody>
      </p:sp>
      <p:grpSp>
        <p:nvGrpSpPr>
          <p:cNvPr id="21" name="Group 21"/>
          <p:cNvGrpSpPr/>
          <p:nvPr/>
        </p:nvGrpSpPr>
        <p:grpSpPr>
          <a:xfrm>
            <a:off x="1383211" y="6882260"/>
            <a:ext cx="7629525" cy="287093"/>
            <a:chOff x="0" y="0"/>
            <a:chExt cx="10172700" cy="382791"/>
          </a:xfrm>
        </p:grpSpPr>
        <p:sp>
          <p:nvSpPr>
            <p:cNvPr id="22" name="Freeform 22"/>
            <p:cNvSpPr/>
            <p:nvPr/>
          </p:nvSpPr>
          <p:spPr>
            <a:xfrm>
              <a:off x="6350" y="6350"/>
              <a:ext cx="10160000" cy="370078"/>
            </a:xfrm>
            <a:custGeom>
              <a:avLst/>
              <a:gdLst/>
              <a:ahLst/>
              <a:cxnLst/>
              <a:rect l="l" t="t" r="r" b="b"/>
              <a:pathLst>
                <a:path w="10160000" h="370078">
                  <a:moveTo>
                    <a:pt x="0" y="155448"/>
                  </a:moveTo>
                  <a:cubicBezTo>
                    <a:pt x="0" y="69596"/>
                    <a:pt x="71882" y="0"/>
                    <a:pt x="160655" y="0"/>
                  </a:cubicBezTo>
                  <a:lnTo>
                    <a:pt x="9999345" y="0"/>
                  </a:lnTo>
                  <a:cubicBezTo>
                    <a:pt x="10087990" y="0"/>
                    <a:pt x="10160000" y="69596"/>
                    <a:pt x="10160000" y="155448"/>
                  </a:cubicBezTo>
                  <a:lnTo>
                    <a:pt x="10160000" y="214630"/>
                  </a:lnTo>
                  <a:cubicBezTo>
                    <a:pt x="10160000" y="300482"/>
                    <a:pt x="10088118" y="370078"/>
                    <a:pt x="9999345" y="370078"/>
                  </a:cubicBezTo>
                  <a:lnTo>
                    <a:pt x="160655" y="370078"/>
                  </a:lnTo>
                  <a:cubicBezTo>
                    <a:pt x="71882" y="370078"/>
                    <a:pt x="0" y="300482"/>
                    <a:pt x="0" y="214630"/>
                  </a:cubicBezTo>
                  <a:close/>
                </a:path>
              </a:pathLst>
            </a:custGeom>
            <a:solidFill>
              <a:srgbClr val="E2E3E9"/>
            </a:solidFill>
          </p:spPr>
        </p:sp>
        <p:sp>
          <p:nvSpPr>
            <p:cNvPr id="23" name="Freeform 23"/>
            <p:cNvSpPr/>
            <p:nvPr/>
          </p:nvSpPr>
          <p:spPr>
            <a:xfrm>
              <a:off x="0" y="0"/>
              <a:ext cx="10172700" cy="382778"/>
            </a:xfrm>
            <a:custGeom>
              <a:avLst/>
              <a:gdLst/>
              <a:ahLst/>
              <a:cxnLst/>
              <a:rect l="l" t="t" r="r" b="b"/>
              <a:pathLst>
                <a:path w="10172700" h="382778">
                  <a:moveTo>
                    <a:pt x="0" y="161798"/>
                  </a:moveTo>
                  <a:cubicBezTo>
                    <a:pt x="0" y="72263"/>
                    <a:pt x="74930" y="0"/>
                    <a:pt x="167005" y="0"/>
                  </a:cubicBezTo>
                  <a:lnTo>
                    <a:pt x="10005695" y="0"/>
                  </a:lnTo>
                  <a:lnTo>
                    <a:pt x="10005695" y="6350"/>
                  </a:lnTo>
                  <a:lnTo>
                    <a:pt x="10005695" y="0"/>
                  </a:lnTo>
                  <a:cubicBezTo>
                    <a:pt x="10097770" y="0"/>
                    <a:pt x="10172700" y="72263"/>
                    <a:pt x="10172700" y="161798"/>
                  </a:cubicBezTo>
                  <a:lnTo>
                    <a:pt x="10166350" y="161798"/>
                  </a:lnTo>
                  <a:lnTo>
                    <a:pt x="10172700" y="161798"/>
                  </a:lnTo>
                  <a:lnTo>
                    <a:pt x="10172700" y="220980"/>
                  </a:lnTo>
                  <a:lnTo>
                    <a:pt x="10166350" y="220980"/>
                  </a:lnTo>
                  <a:lnTo>
                    <a:pt x="10172700" y="220980"/>
                  </a:lnTo>
                  <a:cubicBezTo>
                    <a:pt x="10172700" y="310515"/>
                    <a:pt x="10097770" y="382778"/>
                    <a:pt x="10005695" y="382778"/>
                  </a:cubicBezTo>
                  <a:lnTo>
                    <a:pt x="10005695" y="376428"/>
                  </a:lnTo>
                  <a:lnTo>
                    <a:pt x="10005695" y="382778"/>
                  </a:lnTo>
                  <a:lnTo>
                    <a:pt x="167005" y="382778"/>
                  </a:lnTo>
                  <a:lnTo>
                    <a:pt x="167005" y="376428"/>
                  </a:lnTo>
                  <a:lnTo>
                    <a:pt x="167005" y="382778"/>
                  </a:lnTo>
                  <a:cubicBezTo>
                    <a:pt x="74930" y="382778"/>
                    <a:pt x="0" y="310515"/>
                    <a:pt x="0" y="220980"/>
                  </a:cubicBezTo>
                  <a:lnTo>
                    <a:pt x="0" y="161798"/>
                  </a:lnTo>
                  <a:lnTo>
                    <a:pt x="6350" y="161798"/>
                  </a:lnTo>
                  <a:lnTo>
                    <a:pt x="0" y="161798"/>
                  </a:lnTo>
                  <a:moveTo>
                    <a:pt x="12700" y="161798"/>
                  </a:moveTo>
                  <a:lnTo>
                    <a:pt x="12700" y="220980"/>
                  </a:lnTo>
                  <a:lnTo>
                    <a:pt x="6350" y="220980"/>
                  </a:lnTo>
                  <a:lnTo>
                    <a:pt x="12700" y="220980"/>
                  </a:lnTo>
                  <a:cubicBezTo>
                    <a:pt x="12700" y="303149"/>
                    <a:pt x="81534" y="370078"/>
                    <a:pt x="167005" y="370078"/>
                  </a:cubicBezTo>
                  <a:lnTo>
                    <a:pt x="10005695" y="370078"/>
                  </a:lnTo>
                  <a:cubicBezTo>
                    <a:pt x="10091038" y="370078"/>
                    <a:pt x="10160000" y="303149"/>
                    <a:pt x="10160000" y="220980"/>
                  </a:cubicBezTo>
                  <a:lnTo>
                    <a:pt x="10160000" y="161798"/>
                  </a:lnTo>
                  <a:cubicBezTo>
                    <a:pt x="10160000" y="79629"/>
                    <a:pt x="10091166" y="12700"/>
                    <a:pt x="10005695" y="12700"/>
                  </a:cubicBezTo>
                  <a:lnTo>
                    <a:pt x="167005" y="12700"/>
                  </a:lnTo>
                  <a:lnTo>
                    <a:pt x="167005" y="6350"/>
                  </a:lnTo>
                  <a:lnTo>
                    <a:pt x="167005" y="12700"/>
                  </a:lnTo>
                  <a:cubicBezTo>
                    <a:pt x="81534" y="12700"/>
                    <a:pt x="12700" y="79629"/>
                    <a:pt x="12700" y="161798"/>
                  </a:cubicBezTo>
                  <a:close/>
                </a:path>
              </a:pathLst>
            </a:custGeom>
            <a:solidFill>
              <a:srgbClr val="C8C9CF"/>
            </a:solidFill>
          </p:spPr>
        </p:sp>
      </p:grpSp>
      <p:grpSp>
        <p:nvGrpSpPr>
          <p:cNvPr id="24" name="Group 24"/>
          <p:cNvGrpSpPr/>
          <p:nvPr/>
        </p:nvGrpSpPr>
        <p:grpSpPr>
          <a:xfrm>
            <a:off x="966788" y="6604692"/>
            <a:ext cx="842372" cy="842372"/>
            <a:chOff x="0" y="0"/>
            <a:chExt cx="1123163" cy="1123163"/>
          </a:xfrm>
        </p:grpSpPr>
        <p:sp>
          <p:nvSpPr>
            <p:cNvPr id="25" name="Freeform 25"/>
            <p:cNvSpPr/>
            <p:nvPr/>
          </p:nvSpPr>
          <p:spPr>
            <a:xfrm>
              <a:off x="6350" y="6350"/>
              <a:ext cx="1110488" cy="1110488"/>
            </a:xfrm>
            <a:custGeom>
              <a:avLst/>
              <a:gdLst/>
              <a:ahLst/>
              <a:cxnLst/>
              <a:rect l="l" t="t" r="r" b="b"/>
              <a:pathLst>
                <a:path w="1110488" h="1110488">
                  <a:moveTo>
                    <a:pt x="0" y="555244"/>
                  </a:moveTo>
                  <a:cubicBezTo>
                    <a:pt x="0" y="248539"/>
                    <a:pt x="248539" y="0"/>
                    <a:pt x="555244" y="0"/>
                  </a:cubicBezTo>
                  <a:cubicBezTo>
                    <a:pt x="861949" y="0"/>
                    <a:pt x="1110488" y="248539"/>
                    <a:pt x="1110488" y="555244"/>
                  </a:cubicBezTo>
                  <a:cubicBezTo>
                    <a:pt x="1110488" y="861949"/>
                    <a:pt x="861822" y="1110488"/>
                    <a:pt x="555244" y="1110488"/>
                  </a:cubicBezTo>
                  <a:cubicBezTo>
                    <a:pt x="248666" y="1110488"/>
                    <a:pt x="0" y="861822"/>
                    <a:pt x="0" y="555244"/>
                  </a:cubicBezTo>
                  <a:close/>
                </a:path>
              </a:pathLst>
            </a:custGeom>
            <a:solidFill>
              <a:srgbClr val="E2E3E9"/>
            </a:solidFill>
          </p:spPr>
        </p:sp>
        <p:sp>
          <p:nvSpPr>
            <p:cNvPr id="26" name="Freeform 26"/>
            <p:cNvSpPr/>
            <p:nvPr/>
          </p:nvSpPr>
          <p:spPr>
            <a:xfrm>
              <a:off x="0" y="0"/>
              <a:ext cx="1123188" cy="1123188"/>
            </a:xfrm>
            <a:custGeom>
              <a:avLst/>
              <a:gdLst/>
              <a:ahLst/>
              <a:cxnLst/>
              <a:rect l="l" t="t" r="r" b="b"/>
              <a:pathLst>
                <a:path w="1123188" h="1123188">
                  <a:moveTo>
                    <a:pt x="0" y="561594"/>
                  </a:moveTo>
                  <a:cubicBezTo>
                    <a:pt x="0" y="251460"/>
                    <a:pt x="251460" y="0"/>
                    <a:pt x="561594" y="0"/>
                  </a:cubicBezTo>
                  <a:cubicBezTo>
                    <a:pt x="563499" y="0"/>
                    <a:pt x="565404" y="889"/>
                    <a:pt x="566547" y="2413"/>
                  </a:cubicBezTo>
                  <a:lnTo>
                    <a:pt x="561594" y="6350"/>
                  </a:lnTo>
                  <a:lnTo>
                    <a:pt x="561594" y="0"/>
                  </a:lnTo>
                  <a:lnTo>
                    <a:pt x="561594" y="6350"/>
                  </a:lnTo>
                  <a:lnTo>
                    <a:pt x="561594" y="0"/>
                  </a:lnTo>
                  <a:cubicBezTo>
                    <a:pt x="871728" y="0"/>
                    <a:pt x="1123188" y="251460"/>
                    <a:pt x="1123188" y="561594"/>
                  </a:cubicBezTo>
                  <a:cubicBezTo>
                    <a:pt x="1123188" y="564515"/>
                    <a:pt x="1121156" y="567055"/>
                    <a:pt x="1118362" y="567817"/>
                  </a:cubicBezTo>
                  <a:lnTo>
                    <a:pt x="1116838" y="561594"/>
                  </a:lnTo>
                  <a:lnTo>
                    <a:pt x="1123188" y="561594"/>
                  </a:lnTo>
                  <a:cubicBezTo>
                    <a:pt x="1123188" y="871728"/>
                    <a:pt x="871728" y="1123188"/>
                    <a:pt x="561594" y="1123188"/>
                  </a:cubicBezTo>
                  <a:lnTo>
                    <a:pt x="561594" y="1116838"/>
                  </a:lnTo>
                  <a:lnTo>
                    <a:pt x="561594" y="1123188"/>
                  </a:lnTo>
                  <a:cubicBezTo>
                    <a:pt x="251460" y="1123188"/>
                    <a:pt x="0" y="871728"/>
                    <a:pt x="0" y="561594"/>
                  </a:cubicBezTo>
                  <a:lnTo>
                    <a:pt x="6350" y="561594"/>
                  </a:lnTo>
                  <a:lnTo>
                    <a:pt x="0" y="561594"/>
                  </a:lnTo>
                  <a:moveTo>
                    <a:pt x="12700" y="561594"/>
                  </a:moveTo>
                  <a:lnTo>
                    <a:pt x="6350" y="561594"/>
                  </a:lnTo>
                  <a:lnTo>
                    <a:pt x="12700" y="561594"/>
                  </a:lnTo>
                  <a:cubicBezTo>
                    <a:pt x="12700" y="864743"/>
                    <a:pt x="258445" y="1110488"/>
                    <a:pt x="561594" y="1110488"/>
                  </a:cubicBezTo>
                  <a:cubicBezTo>
                    <a:pt x="864743" y="1110488"/>
                    <a:pt x="1110488" y="864743"/>
                    <a:pt x="1110488" y="561594"/>
                  </a:cubicBezTo>
                  <a:cubicBezTo>
                    <a:pt x="1110488" y="558673"/>
                    <a:pt x="1112520" y="556133"/>
                    <a:pt x="1115314" y="555371"/>
                  </a:cubicBezTo>
                  <a:lnTo>
                    <a:pt x="1116838" y="561594"/>
                  </a:lnTo>
                  <a:lnTo>
                    <a:pt x="1110488" y="561594"/>
                  </a:lnTo>
                  <a:cubicBezTo>
                    <a:pt x="1110488" y="258445"/>
                    <a:pt x="864743" y="12700"/>
                    <a:pt x="561594" y="12700"/>
                  </a:cubicBezTo>
                  <a:cubicBezTo>
                    <a:pt x="559689" y="12700"/>
                    <a:pt x="557784" y="11811"/>
                    <a:pt x="556641" y="10287"/>
                  </a:cubicBezTo>
                  <a:lnTo>
                    <a:pt x="561594" y="6350"/>
                  </a:lnTo>
                  <a:lnTo>
                    <a:pt x="561594" y="12700"/>
                  </a:lnTo>
                  <a:cubicBezTo>
                    <a:pt x="258445" y="12700"/>
                    <a:pt x="12700" y="258445"/>
                    <a:pt x="12700" y="561594"/>
                  </a:cubicBezTo>
                  <a:close/>
                </a:path>
              </a:pathLst>
            </a:custGeom>
            <a:solidFill>
              <a:srgbClr val="C8C9CF"/>
            </a:solidFill>
          </p:spPr>
        </p:sp>
      </p:grpSp>
      <p:sp>
        <p:nvSpPr>
          <p:cNvPr id="27" name="Freeform 27" descr="preencoded.png"/>
          <p:cNvSpPr/>
          <p:nvPr/>
        </p:nvSpPr>
        <p:spPr>
          <a:xfrm>
            <a:off x="1179757" y="6817671"/>
            <a:ext cx="416423" cy="416423"/>
          </a:xfrm>
          <a:custGeom>
            <a:avLst/>
            <a:gdLst/>
            <a:ahLst/>
            <a:cxnLst/>
            <a:rect l="l" t="t" r="r" b="b"/>
            <a:pathLst>
              <a:path w="416423" h="416423">
                <a:moveTo>
                  <a:pt x="0" y="0"/>
                </a:moveTo>
                <a:lnTo>
                  <a:pt x="416423" y="0"/>
                </a:lnTo>
                <a:lnTo>
                  <a:pt x="416423" y="416424"/>
                </a:lnTo>
                <a:lnTo>
                  <a:pt x="0" y="416424"/>
                </a:lnTo>
                <a:lnTo>
                  <a:pt x="0" y="0"/>
                </a:lnTo>
                <a:close/>
              </a:path>
            </a:pathLst>
          </a:custGeom>
          <a:blipFill>
            <a:blip r:embed="rId7">
              <a:extLst>
                <a:ext uri="{96DAC541-7B7A-43D3-8B79-37D633B846F1}">
                  <asvg:svgBlip xmlns:asvg="http://schemas.microsoft.com/office/drawing/2016/SVG/main" r:embed="rId8"/>
                </a:ext>
              </a:extLst>
            </a:blip>
            <a:stretch>
              <a:fillRect t="-7955" b="-7953"/>
            </a:stretch>
          </a:blipFill>
        </p:spPr>
      </p:sp>
      <p:sp>
        <p:nvSpPr>
          <p:cNvPr id="28" name="TextBox 28"/>
          <p:cNvSpPr txBox="1"/>
          <p:nvPr/>
        </p:nvSpPr>
        <p:spPr>
          <a:xfrm>
            <a:off x="1249118" y="7685483"/>
            <a:ext cx="5989882" cy="405432"/>
          </a:xfrm>
          <a:prstGeom prst="rect">
            <a:avLst/>
          </a:prstGeom>
        </p:spPr>
        <p:txBody>
          <a:bodyPr wrap="square" lIns="0" tIns="0" rIns="0" bIns="0" rtlCol="0" anchor="t">
            <a:spAutoFit/>
          </a:bodyPr>
          <a:lstStyle/>
          <a:p>
            <a:pPr algn="l">
              <a:lnSpc>
                <a:spcPts val="3374"/>
              </a:lnSpc>
            </a:pPr>
            <a:r>
              <a:rPr lang="en-US" sz="2687" b="1" dirty="0" err="1">
                <a:solidFill>
                  <a:srgbClr val="5B5F71"/>
                </a:solidFill>
                <a:latin typeface="Arimo Bold"/>
                <a:ea typeface="Arimo Bold"/>
                <a:cs typeface="Arimo Bold"/>
                <a:sym typeface="Arimo Bold"/>
              </a:rPr>
              <a:t>Configuración</a:t>
            </a:r>
            <a:r>
              <a:rPr lang="en-US" sz="2687" b="1" dirty="0">
                <a:solidFill>
                  <a:srgbClr val="5B5F71"/>
                </a:solidFill>
                <a:latin typeface="Arimo Bold"/>
                <a:ea typeface="Arimo Bold"/>
                <a:cs typeface="Arimo Bold"/>
                <a:sym typeface="Arimo Bold"/>
              </a:rPr>
              <a:t> de Base de Datos</a:t>
            </a:r>
          </a:p>
        </p:txBody>
      </p:sp>
      <p:sp>
        <p:nvSpPr>
          <p:cNvPr id="29" name="TextBox 29"/>
          <p:cNvSpPr txBox="1"/>
          <p:nvPr/>
        </p:nvSpPr>
        <p:spPr>
          <a:xfrm>
            <a:off x="1249118" y="8215608"/>
            <a:ext cx="7481440" cy="1484425"/>
          </a:xfrm>
          <a:prstGeom prst="rect">
            <a:avLst/>
          </a:prstGeom>
        </p:spPr>
        <p:txBody>
          <a:bodyPr lIns="0" tIns="0" rIns="0" bIns="0" rtlCol="0" anchor="t">
            <a:spAutoFit/>
          </a:bodyPr>
          <a:lstStyle/>
          <a:p>
            <a:pPr algn="l">
              <a:lnSpc>
                <a:spcPts val="2951"/>
              </a:lnSpc>
            </a:pPr>
            <a:r>
              <a:rPr lang="en-US" sz="1825">
                <a:solidFill>
                  <a:srgbClr val="5B5F71"/>
                </a:solidFill>
                <a:latin typeface="Arimo"/>
                <a:ea typeface="Arimo"/>
                <a:cs typeface="Arimo"/>
                <a:sym typeface="Arimo"/>
              </a:rPr>
              <a:t>Se configuró la base de datos del sistema, incluyendo la creación de tablas y la asignación de permisos de acceso, lo que permitió manejar correctamente la información de invitados y registros de entrada.</a:t>
            </a:r>
          </a:p>
          <a:p>
            <a:pPr algn="l">
              <a:lnSpc>
                <a:spcPts val="2952"/>
              </a:lnSpc>
            </a:pPr>
            <a:endParaRPr lang="en-US" sz="1825">
              <a:solidFill>
                <a:srgbClr val="5B5F71"/>
              </a:solidFill>
              <a:latin typeface="Arimo"/>
              <a:ea typeface="Arimo"/>
              <a:cs typeface="Arimo"/>
              <a:sym typeface="Arimo"/>
            </a:endParaRPr>
          </a:p>
        </p:txBody>
      </p:sp>
      <p:grpSp>
        <p:nvGrpSpPr>
          <p:cNvPr id="30" name="Group 30"/>
          <p:cNvGrpSpPr/>
          <p:nvPr/>
        </p:nvGrpSpPr>
        <p:grpSpPr>
          <a:xfrm>
            <a:off x="9691535" y="6465837"/>
            <a:ext cx="7629525" cy="287093"/>
            <a:chOff x="0" y="0"/>
            <a:chExt cx="10172700" cy="382791"/>
          </a:xfrm>
        </p:grpSpPr>
        <p:sp>
          <p:nvSpPr>
            <p:cNvPr id="31" name="Freeform 31"/>
            <p:cNvSpPr/>
            <p:nvPr/>
          </p:nvSpPr>
          <p:spPr>
            <a:xfrm>
              <a:off x="6350" y="6350"/>
              <a:ext cx="10160000" cy="370078"/>
            </a:xfrm>
            <a:custGeom>
              <a:avLst/>
              <a:gdLst/>
              <a:ahLst/>
              <a:cxnLst/>
              <a:rect l="l" t="t" r="r" b="b"/>
              <a:pathLst>
                <a:path w="10160000" h="370078">
                  <a:moveTo>
                    <a:pt x="0" y="155448"/>
                  </a:moveTo>
                  <a:cubicBezTo>
                    <a:pt x="0" y="69596"/>
                    <a:pt x="71882" y="0"/>
                    <a:pt x="160655" y="0"/>
                  </a:cubicBezTo>
                  <a:lnTo>
                    <a:pt x="9999345" y="0"/>
                  </a:lnTo>
                  <a:cubicBezTo>
                    <a:pt x="10087990" y="0"/>
                    <a:pt x="10160000" y="69596"/>
                    <a:pt x="10160000" y="155448"/>
                  </a:cubicBezTo>
                  <a:lnTo>
                    <a:pt x="10160000" y="214630"/>
                  </a:lnTo>
                  <a:cubicBezTo>
                    <a:pt x="10160000" y="300482"/>
                    <a:pt x="10088118" y="370078"/>
                    <a:pt x="9999345" y="370078"/>
                  </a:cubicBezTo>
                  <a:lnTo>
                    <a:pt x="160655" y="370078"/>
                  </a:lnTo>
                  <a:cubicBezTo>
                    <a:pt x="71882" y="370078"/>
                    <a:pt x="0" y="300482"/>
                    <a:pt x="0" y="214630"/>
                  </a:cubicBezTo>
                  <a:close/>
                </a:path>
              </a:pathLst>
            </a:custGeom>
            <a:solidFill>
              <a:srgbClr val="E2E3E9"/>
            </a:solidFill>
          </p:spPr>
        </p:sp>
        <p:sp>
          <p:nvSpPr>
            <p:cNvPr id="32" name="Freeform 32"/>
            <p:cNvSpPr/>
            <p:nvPr/>
          </p:nvSpPr>
          <p:spPr>
            <a:xfrm>
              <a:off x="0" y="0"/>
              <a:ext cx="10172700" cy="382778"/>
            </a:xfrm>
            <a:custGeom>
              <a:avLst/>
              <a:gdLst/>
              <a:ahLst/>
              <a:cxnLst/>
              <a:rect l="l" t="t" r="r" b="b"/>
              <a:pathLst>
                <a:path w="10172700" h="382778">
                  <a:moveTo>
                    <a:pt x="0" y="161798"/>
                  </a:moveTo>
                  <a:cubicBezTo>
                    <a:pt x="0" y="72263"/>
                    <a:pt x="74930" y="0"/>
                    <a:pt x="167005" y="0"/>
                  </a:cubicBezTo>
                  <a:lnTo>
                    <a:pt x="10005695" y="0"/>
                  </a:lnTo>
                  <a:lnTo>
                    <a:pt x="10005695" y="6350"/>
                  </a:lnTo>
                  <a:lnTo>
                    <a:pt x="10005695" y="0"/>
                  </a:lnTo>
                  <a:cubicBezTo>
                    <a:pt x="10097770" y="0"/>
                    <a:pt x="10172700" y="72263"/>
                    <a:pt x="10172700" y="161798"/>
                  </a:cubicBezTo>
                  <a:lnTo>
                    <a:pt x="10166350" y="161798"/>
                  </a:lnTo>
                  <a:lnTo>
                    <a:pt x="10172700" y="161798"/>
                  </a:lnTo>
                  <a:lnTo>
                    <a:pt x="10172700" y="220980"/>
                  </a:lnTo>
                  <a:lnTo>
                    <a:pt x="10166350" y="220980"/>
                  </a:lnTo>
                  <a:lnTo>
                    <a:pt x="10172700" y="220980"/>
                  </a:lnTo>
                  <a:cubicBezTo>
                    <a:pt x="10172700" y="310515"/>
                    <a:pt x="10097770" y="382778"/>
                    <a:pt x="10005695" y="382778"/>
                  </a:cubicBezTo>
                  <a:lnTo>
                    <a:pt x="10005695" y="376428"/>
                  </a:lnTo>
                  <a:lnTo>
                    <a:pt x="10005695" y="382778"/>
                  </a:lnTo>
                  <a:lnTo>
                    <a:pt x="167005" y="382778"/>
                  </a:lnTo>
                  <a:lnTo>
                    <a:pt x="167005" y="376428"/>
                  </a:lnTo>
                  <a:lnTo>
                    <a:pt x="167005" y="382778"/>
                  </a:lnTo>
                  <a:cubicBezTo>
                    <a:pt x="74930" y="382778"/>
                    <a:pt x="0" y="310515"/>
                    <a:pt x="0" y="220980"/>
                  </a:cubicBezTo>
                  <a:lnTo>
                    <a:pt x="0" y="161798"/>
                  </a:lnTo>
                  <a:lnTo>
                    <a:pt x="6350" y="161798"/>
                  </a:lnTo>
                  <a:lnTo>
                    <a:pt x="0" y="161798"/>
                  </a:lnTo>
                  <a:moveTo>
                    <a:pt x="12700" y="161798"/>
                  </a:moveTo>
                  <a:lnTo>
                    <a:pt x="12700" y="220980"/>
                  </a:lnTo>
                  <a:lnTo>
                    <a:pt x="6350" y="220980"/>
                  </a:lnTo>
                  <a:lnTo>
                    <a:pt x="12700" y="220980"/>
                  </a:lnTo>
                  <a:cubicBezTo>
                    <a:pt x="12700" y="303149"/>
                    <a:pt x="81534" y="370078"/>
                    <a:pt x="167005" y="370078"/>
                  </a:cubicBezTo>
                  <a:lnTo>
                    <a:pt x="10005695" y="370078"/>
                  </a:lnTo>
                  <a:cubicBezTo>
                    <a:pt x="10091038" y="370078"/>
                    <a:pt x="10160000" y="303149"/>
                    <a:pt x="10160000" y="220980"/>
                  </a:cubicBezTo>
                  <a:lnTo>
                    <a:pt x="10160000" y="161798"/>
                  </a:lnTo>
                  <a:cubicBezTo>
                    <a:pt x="10160000" y="79629"/>
                    <a:pt x="10091166" y="12700"/>
                    <a:pt x="10005695" y="12700"/>
                  </a:cubicBezTo>
                  <a:lnTo>
                    <a:pt x="167005" y="12700"/>
                  </a:lnTo>
                  <a:lnTo>
                    <a:pt x="167005" y="6350"/>
                  </a:lnTo>
                  <a:lnTo>
                    <a:pt x="167005" y="12700"/>
                  </a:lnTo>
                  <a:cubicBezTo>
                    <a:pt x="81534" y="12700"/>
                    <a:pt x="12700" y="79629"/>
                    <a:pt x="12700" y="161798"/>
                  </a:cubicBezTo>
                  <a:close/>
                </a:path>
              </a:pathLst>
            </a:custGeom>
            <a:solidFill>
              <a:srgbClr val="C8C9CF"/>
            </a:solidFill>
          </p:spPr>
        </p:sp>
      </p:grpSp>
      <p:grpSp>
        <p:nvGrpSpPr>
          <p:cNvPr id="33" name="Group 33"/>
          <p:cNvGrpSpPr/>
          <p:nvPr/>
        </p:nvGrpSpPr>
        <p:grpSpPr>
          <a:xfrm>
            <a:off x="9275121" y="6188278"/>
            <a:ext cx="842372" cy="842372"/>
            <a:chOff x="0" y="0"/>
            <a:chExt cx="1123163" cy="1123163"/>
          </a:xfrm>
        </p:grpSpPr>
        <p:sp>
          <p:nvSpPr>
            <p:cNvPr id="34" name="Freeform 34"/>
            <p:cNvSpPr/>
            <p:nvPr/>
          </p:nvSpPr>
          <p:spPr>
            <a:xfrm>
              <a:off x="6350" y="6350"/>
              <a:ext cx="1110488" cy="1110488"/>
            </a:xfrm>
            <a:custGeom>
              <a:avLst/>
              <a:gdLst/>
              <a:ahLst/>
              <a:cxnLst/>
              <a:rect l="l" t="t" r="r" b="b"/>
              <a:pathLst>
                <a:path w="1110488" h="1110488">
                  <a:moveTo>
                    <a:pt x="0" y="555244"/>
                  </a:moveTo>
                  <a:cubicBezTo>
                    <a:pt x="0" y="248539"/>
                    <a:pt x="248539" y="0"/>
                    <a:pt x="555244" y="0"/>
                  </a:cubicBezTo>
                  <a:cubicBezTo>
                    <a:pt x="861949" y="0"/>
                    <a:pt x="1110488" y="248539"/>
                    <a:pt x="1110488" y="555244"/>
                  </a:cubicBezTo>
                  <a:cubicBezTo>
                    <a:pt x="1110488" y="861949"/>
                    <a:pt x="861822" y="1110488"/>
                    <a:pt x="555244" y="1110488"/>
                  </a:cubicBezTo>
                  <a:cubicBezTo>
                    <a:pt x="248666" y="1110488"/>
                    <a:pt x="0" y="861822"/>
                    <a:pt x="0" y="555244"/>
                  </a:cubicBezTo>
                  <a:close/>
                </a:path>
              </a:pathLst>
            </a:custGeom>
            <a:solidFill>
              <a:srgbClr val="E2E3E9"/>
            </a:solidFill>
          </p:spPr>
        </p:sp>
        <p:sp>
          <p:nvSpPr>
            <p:cNvPr id="35" name="Freeform 35"/>
            <p:cNvSpPr/>
            <p:nvPr/>
          </p:nvSpPr>
          <p:spPr>
            <a:xfrm>
              <a:off x="0" y="0"/>
              <a:ext cx="1123188" cy="1123188"/>
            </a:xfrm>
            <a:custGeom>
              <a:avLst/>
              <a:gdLst/>
              <a:ahLst/>
              <a:cxnLst/>
              <a:rect l="l" t="t" r="r" b="b"/>
              <a:pathLst>
                <a:path w="1123188" h="1123188">
                  <a:moveTo>
                    <a:pt x="0" y="561594"/>
                  </a:moveTo>
                  <a:cubicBezTo>
                    <a:pt x="0" y="251460"/>
                    <a:pt x="251460" y="0"/>
                    <a:pt x="561594" y="0"/>
                  </a:cubicBezTo>
                  <a:cubicBezTo>
                    <a:pt x="563499" y="0"/>
                    <a:pt x="565404" y="889"/>
                    <a:pt x="566547" y="2413"/>
                  </a:cubicBezTo>
                  <a:lnTo>
                    <a:pt x="561594" y="6350"/>
                  </a:lnTo>
                  <a:lnTo>
                    <a:pt x="561594" y="0"/>
                  </a:lnTo>
                  <a:lnTo>
                    <a:pt x="561594" y="6350"/>
                  </a:lnTo>
                  <a:lnTo>
                    <a:pt x="561594" y="0"/>
                  </a:lnTo>
                  <a:cubicBezTo>
                    <a:pt x="871728" y="0"/>
                    <a:pt x="1123188" y="251460"/>
                    <a:pt x="1123188" y="561594"/>
                  </a:cubicBezTo>
                  <a:cubicBezTo>
                    <a:pt x="1123188" y="564515"/>
                    <a:pt x="1121156" y="567055"/>
                    <a:pt x="1118362" y="567817"/>
                  </a:cubicBezTo>
                  <a:lnTo>
                    <a:pt x="1116838" y="561594"/>
                  </a:lnTo>
                  <a:lnTo>
                    <a:pt x="1123188" y="561594"/>
                  </a:lnTo>
                  <a:cubicBezTo>
                    <a:pt x="1123188" y="871728"/>
                    <a:pt x="871728" y="1123188"/>
                    <a:pt x="561594" y="1123188"/>
                  </a:cubicBezTo>
                  <a:lnTo>
                    <a:pt x="561594" y="1116838"/>
                  </a:lnTo>
                  <a:lnTo>
                    <a:pt x="561594" y="1123188"/>
                  </a:lnTo>
                  <a:cubicBezTo>
                    <a:pt x="251460" y="1123188"/>
                    <a:pt x="0" y="871728"/>
                    <a:pt x="0" y="561594"/>
                  </a:cubicBezTo>
                  <a:lnTo>
                    <a:pt x="6350" y="561594"/>
                  </a:lnTo>
                  <a:lnTo>
                    <a:pt x="0" y="561594"/>
                  </a:lnTo>
                  <a:moveTo>
                    <a:pt x="12700" y="561594"/>
                  </a:moveTo>
                  <a:lnTo>
                    <a:pt x="6350" y="561594"/>
                  </a:lnTo>
                  <a:lnTo>
                    <a:pt x="12700" y="561594"/>
                  </a:lnTo>
                  <a:cubicBezTo>
                    <a:pt x="12700" y="864743"/>
                    <a:pt x="258445" y="1110488"/>
                    <a:pt x="561594" y="1110488"/>
                  </a:cubicBezTo>
                  <a:cubicBezTo>
                    <a:pt x="864743" y="1110488"/>
                    <a:pt x="1110488" y="864743"/>
                    <a:pt x="1110488" y="561594"/>
                  </a:cubicBezTo>
                  <a:cubicBezTo>
                    <a:pt x="1110488" y="558673"/>
                    <a:pt x="1112520" y="556133"/>
                    <a:pt x="1115314" y="555371"/>
                  </a:cubicBezTo>
                  <a:lnTo>
                    <a:pt x="1116838" y="561594"/>
                  </a:lnTo>
                  <a:lnTo>
                    <a:pt x="1110488" y="561594"/>
                  </a:lnTo>
                  <a:cubicBezTo>
                    <a:pt x="1110488" y="258445"/>
                    <a:pt x="864743" y="12700"/>
                    <a:pt x="561594" y="12700"/>
                  </a:cubicBezTo>
                  <a:cubicBezTo>
                    <a:pt x="559689" y="12700"/>
                    <a:pt x="557784" y="11811"/>
                    <a:pt x="556641" y="10287"/>
                  </a:cubicBezTo>
                  <a:lnTo>
                    <a:pt x="561594" y="6350"/>
                  </a:lnTo>
                  <a:lnTo>
                    <a:pt x="561594" y="12700"/>
                  </a:lnTo>
                  <a:cubicBezTo>
                    <a:pt x="258445" y="12700"/>
                    <a:pt x="12700" y="258445"/>
                    <a:pt x="12700" y="561594"/>
                  </a:cubicBezTo>
                  <a:close/>
                </a:path>
              </a:pathLst>
            </a:custGeom>
            <a:solidFill>
              <a:srgbClr val="C8C9CF"/>
            </a:solidFill>
          </p:spPr>
        </p:sp>
      </p:grpSp>
      <p:sp>
        <p:nvSpPr>
          <p:cNvPr id="36" name="Freeform 36" descr="preencoded.png"/>
          <p:cNvSpPr/>
          <p:nvPr/>
        </p:nvSpPr>
        <p:spPr>
          <a:xfrm>
            <a:off x="9488091" y="6401248"/>
            <a:ext cx="416423" cy="416423"/>
          </a:xfrm>
          <a:custGeom>
            <a:avLst/>
            <a:gdLst/>
            <a:ahLst/>
            <a:cxnLst/>
            <a:rect l="l" t="t" r="r" b="b"/>
            <a:pathLst>
              <a:path w="416423" h="416423">
                <a:moveTo>
                  <a:pt x="0" y="0"/>
                </a:moveTo>
                <a:lnTo>
                  <a:pt x="416423" y="0"/>
                </a:lnTo>
                <a:lnTo>
                  <a:pt x="416423" y="416423"/>
                </a:lnTo>
                <a:lnTo>
                  <a:pt x="0" y="416423"/>
                </a:lnTo>
                <a:lnTo>
                  <a:pt x="0" y="0"/>
                </a:lnTo>
                <a:close/>
              </a:path>
            </a:pathLst>
          </a:custGeom>
          <a:blipFill>
            <a:blip r:embed="rId9">
              <a:extLst>
                <a:ext uri="{96DAC541-7B7A-43D3-8B79-37D633B846F1}">
                  <asvg:svgBlip xmlns:asvg="http://schemas.microsoft.com/office/drawing/2016/SVG/main" r:embed="rId10"/>
                </a:ext>
              </a:extLst>
            </a:blip>
            <a:stretch>
              <a:fillRect t="-3408" b="-3410"/>
            </a:stretch>
          </a:blipFill>
        </p:spPr>
      </p:sp>
      <p:sp>
        <p:nvSpPr>
          <p:cNvPr id="37" name="TextBox 37"/>
          <p:cNvSpPr txBox="1"/>
          <p:nvPr/>
        </p:nvSpPr>
        <p:spPr>
          <a:xfrm>
            <a:off x="9557442" y="7269061"/>
            <a:ext cx="4844358" cy="405432"/>
          </a:xfrm>
          <a:prstGeom prst="rect">
            <a:avLst/>
          </a:prstGeom>
        </p:spPr>
        <p:txBody>
          <a:bodyPr wrap="square" lIns="0" tIns="0" rIns="0" bIns="0" rtlCol="0" anchor="t">
            <a:spAutoFit/>
          </a:bodyPr>
          <a:lstStyle/>
          <a:p>
            <a:pPr algn="l">
              <a:lnSpc>
                <a:spcPts val="3374"/>
              </a:lnSpc>
            </a:pPr>
            <a:r>
              <a:rPr lang="en-US" sz="2687" b="1" dirty="0" err="1">
                <a:solidFill>
                  <a:srgbClr val="5B5F71"/>
                </a:solidFill>
                <a:latin typeface="Arimo Bold"/>
                <a:ea typeface="Arimo Bold"/>
                <a:cs typeface="Arimo Bold"/>
                <a:sym typeface="Arimo Bold"/>
              </a:rPr>
              <a:t>Despliegue</a:t>
            </a:r>
            <a:r>
              <a:rPr lang="en-US" sz="2687" b="1" dirty="0">
                <a:solidFill>
                  <a:srgbClr val="5B5F71"/>
                </a:solidFill>
                <a:latin typeface="Arimo Bold"/>
                <a:ea typeface="Arimo Bold"/>
                <a:cs typeface="Arimo Bold"/>
                <a:sym typeface="Arimo Bold"/>
              </a:rPr>
              <a:t> del Sistema</a:t>
            </a:r>
          </a:p>
        </p:txBody>
      </p:sp>
      <p:sp>
        <p:nvSpPr>
          <p:cNvPr id="38" name="TextBox 38"/>
          <p:cNvSpPr txBox="1"/>
          <p:nvPr/>
        </p:nvSpPr>
        <p:spPr>
          <a:xfrm>
            <a:off x="9557442" y="7799184"/>
            <a:ext cx="7481440" cy="2125750"/>
          </a:xfrm>
          <a:prstGeom prst="rect">
            <a:avLst/>
          </a:prstGeom>
        </p:spPr>
        <p:txBody>
          <a:bodyPr lIns="0" tIns="0" rIns="0" bIns="0" rtlCol="0" anchor="t">
            <a:spAutoFit/>
          </a:bodyPr>
          <a:lstStyle/>
          <a:p>
            <a:pPr algn="l">
              <a:lnSpc>
                <a:spcPts val="3436"/>
              </a:lnSpc>
            </a:pPr>
            <a:r>
              <a:rPr lang="en-US" sz="2124">
                <a:solidFill>
                  <a:srgbClr val="5B5F71"/>
                </a:solidFill>
                <a:latin typeface="Arimo"/>
                <a:ea typeface="Arimo"/>
                <a:cs typeface="Arimo"/>
                <a:sym typeface="Arimo"/>
              </a:rPr>
              <a:t>El sistema fue puesto en producción y quedó disponible mediante una URL, permitiendo su acceso en tiempo real durante el evento. Se verificó que el sistema respondiera correctamente en diferentes dispositivos.</a:t>
            </a:r>
          </a:p>
          <a:p>
            <a:pPr algn="l">
              <a:lnSpc>
                <a:spcPts val="3437"/>
              </a:lnSpc>
            </a:pPr>
            <a:endParaRPr lang="en-US" sz="2124">
              <a:solidFill>
                <a:srgbClr val="5B5F71"/>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7" y="1846364"/>
            <a:ext cx="13468055" cy="825995"/>
          </a:xfrm>
          <a:prstGeom prst="rect">
            <a:avLst/>
          </a:prstGeom>
        </p:spPr>
        <p:txBody>
          <a:bodyPr wrap="square" lIns="0" tIns="0" rIns="0" bIns="0" rtlCol="0" anchor="t">
            <a:spAutoFit/>
          </a:bodyPr>
          <a:lstStyle/>
          <a:p>
            <a:pPr algn="l">
              <a:lnSpc>
                <a:spcPts val="6937"/>
              </a:lnSpc>
            </a:pPr>
            <a:r>
              <a:rPr lang="en-US" sz="5562" b="1" dirty="0" err="1">
                <a:solidFill>
                  <a:srgbClr val="505468"/>
                </a:solidFill>
                <a:latin typeface="Arimo Bold"/>
                <a:ea typeface="Arimo Bold"/>
                <a:cs typeface="Arimo Bold"/>
                <a:sym typeface="Arimo Bold"/>
              </a:rPr>
              <a:t>Capacitación</a:t>
            </a:r>
            <a:r>
              <a:rPr lang="en-US" sz="5562" b="1" dirty="0">
                <a:solidFill>
                  <a:srgbClr val="505468"/>
                </a:solidFill>
                <a:latin typeface="Arimo Bold"/>
                <a:ea typeface="Arimo Bold"/>
                <a:cs typeface="Arimo Bold"/>
                <a:sym typeface="Arimo Bold"/>
              </a:rPr>
              <a:t> </a:t>
            </a:r>
            <a:r>
              <a:rPr lang="en-US" sz="5562" b="1" dirty="0" err="1">
                <a:solidFill>
                  <a:srgbClr val="505468"/>
                </a:solidFill>
                <a:latin typeface="Arimo Bold"/>
                <a:ea typeface="Arimo Bold"/>
                <a:cs typeface="Arimo Bold"/>
                <a:sym typeface="Arimo Bold"/>
              </a:rPr>
              <a:t>Diferenciada</a:t>
            </a:r>
            <a:r>
              <a:rPr lang="en-US" sz="5562" b="1" dirty="0">
                <a:solidFill>
                  <a:srgbClr val="505468"/>
                </a:solidFill>
                <a:latin typeface="Arimo Bold"/>
                <a:ea typeface="Arimo Bold"/>
                <a:cs typeface="Arimo Bold"/>
                <a:sym typeface="Arimo Bold"/>
              </a:rPr>
              <a:t> </a:t>
            </a:r>
            <a:r>
              <a:rPr lang="en-US" sz="5562" b="1" dirty="0" err="1">
                <a:solidFill>
                  <a:srgbClr val="505468"/>
                </a:solidFill>
                <a:latin typeface="Arimo Bold"/>
                <a:ea typeface="Arimo Bold"/>
                <a:cs typeface="Arimo Bold"/>
                <a:sym typeface="Arimo Bold"/>
              </a:rPr>
              <a:t>por</a:t>
            </a:r>
            <a:r>
              <a:rPr lang="en-US" sz="5562" b="1" dirty="0">
                <a:solidFill>
                  <a:srgbClr val="505468"/>
                </a:solidFill>
                <a:latin typeface="Arimo Bold"/>
                <a:ea typeface="Arimo Bold"/>
                <a:cs typeface="Arimo Bold"/>
                <a:sym typeface="Arimo Bold"/>
              </a:rPr>
              <a:t> </a:t>
            </a:r>
            <a:r>
              <a:rPr lang="en-US" sz="5562" b="1" dirty="0" err="1">
                <a:solidFill>
                  <a:srgbClr val="505468"/>
                </a:solidFill>
                <a:latin typeface="Arimo Bold"/>
                <a:ea typeface="Arimo Bold"/>
                <a:cs typeface="Arimo Bold"/>
                <a:sym typeface="Arimo Bold"/>
              </a:rPr>
              <a:t>Perfil</a:t>
            </a:r>
            <a:endParaRPr lang="en-US" sz="5562" b="1" dirty="0">
              <a:solidFill>
                <a:srgbClr val="505468"/>
              </a:solidFill>
              <a:latin typeface="Arimo Bold"/>
              <a:ea typeface="Arimo Bold"/>
              <a:cs typeface="Arimo Bold"/>
              <a:sym typeface="Arimo Bold"/>
            </a:endParaRPr>
          </a:p>
        </p:txBody>
      </p:sp>
      <p:grpSp>
        <p:nvGrpSpPr>
          <p:cNvPr id="3" name="Group 3"/>
          <p:cNvGrpSpPr/>
          <p:nvPr/>
        </p:nvGrpSpPr>
        <p:grpSpPr>
          <a:xfrm>
            <a:off x="973188" y="3337474"/>
            <a:ext cx="5283546" cy="5064919"/>
            <a:chOff x="0" y="0"/>
            <a:chExt cx="7044728" cy="6753225"/>
          </a:xfrm>
        </p:grpSpPr>
        <p:sp>
          <p:nvSpPr>
            <p:cNvPr id="4" name="Freeform 4"/>
            <p:cNvSpPr/>
            <p:nvPr/>
          </p:nvSpPr>
          <p:spPr>
            <a:xfrm>
              <a:off x="25400" y="25400"/>
              <a:ext cx="6994017" cy="6702425"/>
            </a:xfrm>
            <a:custGeom>
              <a:avLst/>
              <a:gdLst/>
              <a:ahLst/>
              <a:cxnLst/>
              <a:rect l="l" t="t" r="r" b="b"/>
              <a:pathLst>
                <a:path w="6994017" h="6702425">
                  <a:moveTo>
                    <a:pt x="0" y="158750"/>
                  </a:moveTo>
                  <a:cubicBezTo>
                    <a:pt x="0" y="71120"/>
                    <a:pt x="71120" y="0"/>
                    <a:pt x="158877" y="0"/>
                  </a:cubicBezTo>
                  <a:lnTo>
                    <a:pt x="6835140" y="0"/>
                  </a:lnTo>
                  <a:cubicBezTo>
                    <a:pt x="6922897" y="0"/>
                    <a:pt x="6994017" y="71120"/>
                    <a:pt x="6994017" y="158750"/>
                  </a:cubicBezTo>
                  <a:lnTo>
                    <a:pt x="6994017" y="6543675"/>
                  </a:lnTo>
                  <a:cubicBezTo>
                    <a:pt x="6994017" y="6631305"/>
                    <a:pt x="6922897" y="6702425"/>
                    <a:pt x="6835140" y="6702425"/>
                  </a:cubicBezTo>
                  <a:lnTo>
                    <a:pt x="158877" y="6702425"/>
                  </a:lnTo>
                  <a:cubicBezTo>
                    <a:pt x="71120" y="6702425"/>
                    <a:pt x="0" y="6631305"/>
                    <a:pt x="0" y="6543675"/>
                  </a:cubicBezTo>
                  <a:close/>
                </a:path>
              </a:pathLst>
            </a:custGeom>
            <a:solidFill>
              <a:srgbClr val="FFFFFF">
                <a:alpha val="90196"/>
              </a:srgbClr>
            </a:solidFill>
          </p:spPr>
        </p:sp>
        <p:sp>
          <p:nvSpPr>
            <p:cNvPr id="5" name="Freeform 5"/>
            <p:cNvSpPr/>
            <p:nvPr/>
          </p:nvSpPr>
          <p:spPr>
            <a:xfrm>
              <a:off x="0" y="0"/>
              <a:ext cx="7044817" cy="6753225"/>
            </a:xfrm>
            <a:custGeom>
              <a:avLst/>
              <a:gdLst/>
              <a:ahLst/>
              <a:cxnLst/>
              <a:rect l="l" t="t" r="r" b="b"/>
              <a:pathLst>
                <a:path w="7044817" h="6753225">
                  <a:moveTo>
                    <a:pt x="0" y="184150"/>
                  </a:moveTo>
                  <a:cubicBezTo>
                    <a:pt x="0" y="82423"/>
                    <a:pt x="82550" y="0"/>
                    <a:pt x="184277" y="0"/>
                  </a:cubicBezTo>
                  <a:lnTo>
                    <a:pt x="6860540" y="0"/>
                  </a:lnTo>
                  <a:lnTo>
                    <a:pt x="6860540" y="25400"/>
                  </a:lnTo>
                  <a:lnTo>
                    <a:pt x="6860540" y="0"/>
                  </a:lnTo>
                  <a:cubicBezTo>
                    <a:pt x="6962267" y="0"/>
                    <a:pt x="7044817" y="82423"/>
                    <a:pt x="7044817" y="184150"/>
                  </a:cubicBezTo>
                  <a:lnTo>
                    <a:pt x="7019417" y="184150"/>
                  </a:lnTo>
                  <a:lnTo>
                    <a:pt x="7044817" y="184150"/>
                  </a:lnTo>
                  <a:lnTo>
                    <a:pt x="7044817" y="6569075"/>
                  </a:lnTo>
                  <a:lnTo>
                    <a:pt x="7019417" y="6569075"/>
                  </a:lnTo>
                  <a:lnTo>
                    <a:pt x="7044817" y="6569075"/>
                  </a:lnTo>
                  <a:cubicBezTo>
                    <a:pt x="7044817" y="6670802"/>
                    <a:pt x="6962267" y="6753225"/>
                    <a:pt x="6860540" y="6753225"/>
                  </a:cubicBezTo>
                  <a:lnTo>
                    <a:pt x="6860540" y="6727825"/>
                  </a:lnTo>
                  <a:lnTo>
                    <a:pt x="6860540" y="6753225"/>
                  </a:lnTo>
                  <a:lnTo>
                    <a:pt x="184277" y="6753225"/>
                  </a:lnTo>
                  <a:lnTo>
                    <a:pt x="184277" y="6727825"/>
                  </a:lnTo>
                  <a:lnTo>
                    <a:pt x="184277" y="6753225"/>
                  </a:lnTo>
                  <a:cubicBezTo>
                    <a:pt x="82550" y="6753225"/>
                    <a:pt x="0" y="6670802"/>
                    <a:pt x="0" y="6569075"/>
                  </a:cubicBezTo>
                  <a:lnTo>
                    <a:pt x="0" y="184150"/>
                  </a:lnTo>
                  <a:lnTo>
                    <a:pt x="25400" y="184150"/>
                  </a:lnTo>
                  <a:lnTo>
                    <a:pt x="0" y="184150"/>
                  </a:lnTo>
                  <a:moveTo>
                    <a:pt x="50800" y="184150"/>
                  </a:moveTo>
                  <a:lnTo>
                    <a:pt x="50800" y="6569075"/>
                  </a:lnTo>
                  <a:lnTo>
                    <a:pt x="25400" y="6569075"/>
                  </a:lnTo>
                  <a:lnTo>
                    <a:pt x="50800" y="6569075"/>
                  </a:lnTo>
                  <a:cubicBezTo>
                    <a:pt x="50800" y="6642735"/>
                    <a:pt x="110490" y="6702425"/>
                    <a:pt x="184277" y="6702425"/>
                  </a:cubicBezTo>
                  <a:lnTo>
                    <a:pt x="6860540" y="6702425"/>
                  </a:lnTo>
                  <a:cubicBezTo>
                    <a:pt x="6934200" y="6702425"/>
                    <a:pt x="6994017" y="6642735"/>
                    <a:pt x="6994017" y="6569075"/>
                  </a:cubicBezTo>
                  <a:lnTo>
                    <a:pt x="6994017" y="184150"/>
                  </a:lnTo>
                  <a:cubicBezTo>
                    <a:pt x="6993890" y="110490"/>
                    <a:pt x="6934200" y="50800"/>
                    <a:pt x="6860540" y="50800"/>
                  </a:cubicBezTo>
                  <a:lnTo>
                    <a:pt x="184277" y="50800"/>
                  </a:lnTo>
                  <a:lnTo>
                    <a:pt x="184277" y="25400"/>
                  </a:lnTo>
                  <a:lnTo>
                    <a:pt x="184277" y="50800"/>
                  </a:lnTo>
                  <a:cubicBezTo>
                    <a:pt x="110490" y="50800"/>
                    <a:pt x="50800" y="110490"/>
                    <a:pt x="50800" y="184150"/>
                  </a:cubicBezTo>
                  <a:close/>
                </a:path>
              </a:pathLst>
            </a:custGeom>
            <a:solidFill>
              <a:srgbClr val="C8C9CF"/>
            </a:solidFill>
          </p:spPr>
        </p:sp>
      </p:grpSp>
      <p:grpSp>
        <p:nvGrpSpPr>
          <p:cNvPr id="6" name="Group 6"/>
          <p:cNvGrpSpPr/>
          <p:nvPr/>
        </p:nvGrpSpPr>
        <p:grpSpPr>
          <a:xfrm>
            <a:off x="1030338" y="3394624"/>
            <a:ext cx="5169246" cy="850554"/>
            <a:chOff x="0" y="0"/>
            <a:chExt cx="6892328" cy="1134072"/>
          </a:xfrm>
        </p:grpSpPr>
        <p:sp>
          <p:nvSpPr>
            <p:cNvPr id="7" name="Freeform 7"/>
            <p:cNvSpPr/>
            <p:nvPr/>
          </p:nvSpPr>
          <p:spPr>
            <a:xfrm>
              <a:off x="0" y="0"/>
              <a:ext cx="6892290" cy="1133983"/>
            </a:xfrm>
            <a:custGeom>
              <a:avLst/>
              <a:gdLst/>
              <a:ahLst/>
              <a:cxnLst/>
              <a:rect l="l" t="t" r="r" b="b"/>
              <a:pathLst>
                <a:path w="6892290" h="1133983">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E2E3E9"/>
            </a:solidFill>
          </p:spPr>
        </p:sp>
      </p:grpSp>
      <p:sp>
        <p:nvSpPr>
          <p:cNvPr id="8" name="Freeform 8" descr="preencoded.png"/>
          <p:cNvSpPr/>
          <p:nvPr/>
        </p:nvSpPr>
        <p:spPr>
          <a:xfrm>
            <a:off x="3402359" y="3602384"/>
            <a:ext cx="425206" cy="425206"/>
          </a:xfrm>
          <a:custGeom>
            <a:avLst/>
            <a:gdLst/>
            <a:ahLst/>
            <a:cxnLst/>
            <a:rect l="l" t="t" r="r" b="b"/>
            <a:pathLst>
              <a:path w="425206" h="425206">
                <a:moveTo>
                  <a:pt x="0" y="0"/>
                </a:moveTo>
                <a:lnTo>
                  <a:pt x="425205" y="0"/>
                </a:lnTo>
                <a:lnTo>
                  <a:pt x="425205" y="425205"/>
                </a:lnTo>
                <a:lnTo>
                  <a:pt x="0" y="425205"/>
                </a:lnTo>
                <a:lnTo>
                  <a:pt x="0" y="0"/>
                </a:lnTo>
                <a:close/>
              </a:path>
            </a:pathLst>
          </a:custGeom>
          <a:blipFill>
            <a:blip r:embed="rId3">
              <a:extLst>
                <a:ext uri="{96DAC541-7B7A-43D3-8B79-37D633B846F1}">
                  <asvg:svgBlip xmlns:asvg="http://schemas.microsoft.com/office/drawing/2016/SVG/main" r:embed="rId4"/>
                </a:ext>
              </a:extLst>
            </a:blip>
            <a:stretch>
              <a:fillRect t="-11110" b="-11110"/>
            </a:stretch>
          </a:blipFill>
        </p:spPr>
      </p:sp>
      <p:sp>
        <p:nvSpPr>
          <p:cNvPr id="9" name="TextBox 9"/>
          <p:cNvSpPr txBox="1"/>
          <p:nvPr/>
        </p:nvSpPr>
        <p:spPr>
          <a:xfrm>
            <a:off x="1313859" y="4490590"/>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Personal de Acceso</a:t>
            </a:r>
          </a:p>
        </p:txBody>
      </p:sp>
      <p:sp>
        <p:nvSpPr>
          <p:cNvPr id="10" name="TextBox 10"/>
          <p:cNvSpPr txBox="1"/>
          <p:nvPr/>
        </p:nvSpPr>
        <p:spPr>
          <a:xfrm>
            <a:off x="1313859" y="5055984"/>
            <a:ext cx="4602213" cy="2434318"/>
          </a:xfrm>
          <a:prstGeom prst="rect">
            <a:avLst/>
          </a:prstGeom>
        </p:spPr>
        <p:txBody>
          <a:bodyPr lIns="0" tIns="0" rIns="0" bIns="0" rtlCol="0" anchor="t">
            <a:spAutoFit/>
          </a:bodyPr>
          <a:lstStyle/>
          <a:p>
            <a:pPr marL="301625" lvl="1" indent="-150813" algn="l">
              <a:lnSpc>
                <a:spcPts val="3257"/>
              </a:lnSpc>
              <a:buFont typeface="Arial"/>
              <a:buChar char="•"/>
            </a:pPr>
            <a:r>
              <a:rPr lang="en-US" sz="2000">
                <a:solidFill>
                  <a:srgbClr val="5B5F71"/>
                </a:solidFill>
                <a:latin typeface="Arimo"/>
                <a:ea typeface="Arimo"/>
                <a:cs typeface="Arimo"/>
                <a:sym typeface="Arimo"/>
              </a:rPr>
              <a:t> Uso del escáner QR o ingreso manual del código</a:t>
            </a:r>
          </a:p>
          <a:p>
            <a:pPr marL="301625" lvl="1" indent="-150813" algn="l">
              <a:lnSpc>
                <a:spcPts val="3257"/>
              </a:lnSpc>
              <a:buFont typeface="Arial"/>
              <a:buChar char="•"/>
            </a:pPr>
            <a:r>
              <a:rPr lang="en-US" sz="2000">
                <a:solidFill>
                  <a:srgbClr val="5B5F71"/>
                </a:solidFill>
                <a:latin typeface="Arimo"/>
                <a:ea typeface="Arimo"/>
                <a:cs typeface="Arimo"/>
                <a:sym typeface="Arimo"/>
              </a:rPr>
              <a:t> Verificación de la información del invitado antes de permitir el acceso</a:t>
            </a:r>
          </a:p>
          <a:p>
            <a:pPr marL="301625" lvl="1" indent="-150813" algn="l">
              <a:lnSpc>
                <a:spcPts val="3257"/>
              </a:lnSpc>
              <a:buFont typeface="Arial"/>
              <a:buChar char="•"/>
            </a:pPr>
            <a:r>
              <a:rPr lang="en-US" sz="2000">
                <a:solidFill>
                  <a:srgbClr val="5B5F71"/>
                </a:solidFill>
                <a:latin typeface="Arimo"/>
                <a:ea typeface="Arimo"/>
                <a:cs typeface="Arimo"/>
                <a:sym typeface="Arimo"/>
              </a:rPr>
              <a:t> Registro de entrada y manejo de posibles errores durante el acceso</a:t>
            </a:r>
          </a:p>
        </p:txBody>
      </p:sp>
      <p:grpSp>
        <p:nvGrpSpPr>
          <p:cNvPr id="11" name="Group 11"/>
          <p:cNvGrpSpPr/>
          <p:nvPr/>
        </p:nvGrpSpPr>
        <p:grpSpPr>
          <a:xfrm>
            <a:off x="6502156" y="3337474"/>
            <a:ext cx="5283546" cy="5064919"/>
            <a:chOff x="0" y="0"/>
            <a:chExt cx="7044728" cy="6753225"/>
          </a:xfrm>
        </p:grpSpPr>
        <p:sp>
          <p:nvSpPr>
            <p:cNvPr id="12" name="Freeform 12"/>
            <p:cNvSpPr/>
            <p:nvPr/>
          </p:nvSpPr>
          <p:spPr>
            <a:xfrm>
              <a:off x="25400" y="25400"/>
              <a:ext cx="6994017" cy="6702425"/>
            </a:xfrm>
            <a:custGeom>
              <a:avLst/>
              <a:gdLst/>
              <a:ahLst/>
              <a:cxnLst/>
              <a:rect l="l" t="t" r="r" b="b"/>
              <a:pathLst>
                <a:path w="6994017" h="6702425">
                  <a:moveTo>
                    <a:pt x="0" y="158750"/>
                  </a:moveTo>
                  <a:cubicBezTo>
                    <a:pt x="0" y="71120"/>
                    <a:pt x="71120" y="0"/>
                    <a:pt x="158877" y="0"/>
                  </a:cubicBezTo>
                  <a:lnTo>
                    <a:pt x="6835140" y="0"/>
                  </a:lnTo>
                  <a:cubicBezTo>
                    <a:pt x="6922897" y="0"/>
                    <a:pt x="6994017" y="71120"/>
                    <a:pt x="6994017" y="158750"/>
                  </a:cubicBezTo>
                  <a:lnTo>
                    <a:pt x="6994017" y="6543675"/>
                  </a:lnTo>
                  <a:cubicBezTo>
                    <a:pt x="6994017" y="6631305"/>
                    <a:pt x="6922897" y="6702425"/>
                    <a:pt x="6835140" y="6702425"/>
                  </a:cubicBezTo>
                  <a:lnTo>
                    <a:pt x="158877" y="6702425"/>
                  </a:lnTo>
                  <a:cubicBezTo>
                    <a:pt x="71120" y="6702425"/>
                    <a:pt x="0" y="6631305"/>
                    <a:pt x="0" y="6543675"/>
                  </a:cubicBezTo>
                  <a:close/>
                </a:path>
              </a:pathLst>
            </a:custGeom>
            <a:solidFill>
              <a:srgbClr val="FFFFFF">
                <a:alpha val="90196"/>
              </a:srgbClr>
            </a:solidFill>
          </p:spPr>
        </p:sp>
        <p:sp>
          <p:nvSpPr>
            <p:cNvPr id="13" name="Freeform 13"/>
            <p:cNvSpPr/>
            <p:nvPr/>
          </p:nvSpPr>
          <p:spPr>
            <a:xfrm>
              <a:off x="0" y="0"/>
              <a:ext cx="7044817" cy="6753225"/>
            </a:xfrm>
            <a:custGeom>
              <a:avLst/>
              <a:gdLst/>
              <a:ahLst/>
              <a:cxnLst/>
              <a:rect l="l" t="t" r="r" b="b"/>
              <a:pathLst>
                <a:path w="7044817" h="6753225">
                  <a:moveTo>
                    <a:pt x="0" y="184150"/>
                  </a:moveTo>
                  <a:cubicBezTo>
                    <a:pt x="0" y="82423"/>
                    <a:pt x="82550" y="0"/>
                    <a:pt x="184277" y="0"/>
                  </a:cubicBezTo>
                  <a:lnTo>
                    <a:pt x="6860540" y="0"/>
                  </a:lnTo>
                  <a:lnTo>
                    <a:pt x="6860540" y="25400"/>
                  </a:lnTo>
                  <a:lnTo>
                    <a:pt x="6860540" y="0"/>
                  </a:lnTo>
                  <a:cubicBezTo>
                    <a:pt x="6962267" y="0"/>
                    <a:pt x="7044817" y="82423"/>
                    <a:pt x="7044817" y="184150"/>
                  </a:cubicBezTo>
                  <a:lnTo>
                    <a:pt x="7019417" y="184150"/>
                  </a:lnTo>
                  <a:lnTo>
                    <a:pt x="7044817" y="184150"/>
                  </a:lnTo>
                  <a:lnTo>
                    <a:pt x="7044817" y="6569075"/>
                  </a:lnTo>
                  <a:lnTo>
                    <a:pt x="7019417" y="6569075"/>
                  </a:lnTo>
                  <a:lnTo>
                    <a:pt x="7044817" y="6569075"/>
                  </a:lnTo>
                  <a:cubicBezTo>
                    <a:pt x="7044817" y="6670802"/>
                    <a:pt x="6962267" y="6753225"/>
                    <a:pt x="6860540" y="6753225"/>
                  </a:cubicBezTo>
                  <a:lnTo>
                    <a:pt x="6860540" y="6727825"/>
                  </a:lnTo>
                  <a:lnTo>
                    <a:pt x="6860540" y="6753225"/>
                  </a:lnTo>
                  <a:lnTo>
                    <a:pt x="184277" y="6753225"/>
                  </a:lnTo>
                  <a:lnTo>
                    <a:pt x="184277" y="6727825"/>
                  </a:lnTo>
                  <a:lnTo>
                    <a:pt x="184277" y="6753225"/>
                  </a:lnTo>
                  <a:cubicBezTo>
                    <a:pt x="82550" y="6753225"/>
                    <a:pt x="0" y="6670802"/>
                    <a:pt x="0" y="6569075"/>
                  </a:cubicBezTo>
                  <a:lnTo>
                    <a:pt x="0" y="184150"/>
                  </a:lnTo>
                  <a:lnTo>
                    <a:pt x="25400" y="184150"/>
                  </a:lnTo>
                  <a:lnTo>
                    <a:pt x="0" y="184150"/>
                  </a:lnTo>
                  <a:moveTo>
                    <a:pt x="50800" y="184150"/>
                  </a:moveTo>
                  <a:lnTo>
                    <a:pt x="50800" y="6569075"/>
                  </a:lnTo>
                  <a:lnTo>
                    <a:pt x="25400" y="6569075"/>
                  </a:lnTo>
                  <a:lnTo>
                    <a:pt x="50800" y="6569075"/>
                  </a:lnTo>
                  <a:cubicBezTo>
                    <a:pt x="50800" y="6642735"/>
                    <a:pt x="110490" y="6702425"/>
                    <a:pt x="184277" y="6702425"/>
                  </a:cubicBezTo>
                  <a:lnTo>
                    <a:pt x="6860540" y="6702425"/>
                  </a:lnTo>
                  <a:cubicBezTo>
                    <a:pt x="6934200" y="6702425"/>
                    <a:pt x="6994017" y="6642735"/>
                    <a:pt x="6994017" y="6569075"/>
                  </a:cubicBezTo>
                  <a:lnTo>
                    <a:pt x="6994017" y="184150"/>
                  </a:lnTo>
                  <a:cubicBezTo>
                    <a:pt x="6993890" y="110490"/>
                    <a:pt x="6934200" y="50800"/>
                    <a:pt x="6860540" y="50800"/>
                  </a:cubicBezTo>
                  <a:lnTo>
                    <a:pt x="184277" y="50800"/>
                  </a:lnTo>
                  <a:lnTo>
                    <a:pt x="184277" y="25400"/>
                  </a:lnTo>
                  <a:lnTo>
                    <a:pt x="184277" y="50800"/>
                  </a:lnTo>
                  <a:cubicBezTo>
                    <a:pt x="110490" y="50800"/>
                    <a:pt x="50800" y="110490"/>
                    <a:pt x="50800" y="184150"/>
                  </a:cubicBezTo>
                  <a:close/>
                </a:path>
              </a:pathLst>
            </a:custGeom>
            <a:solidFill>
              <a:srgbClr val="C8C9CF"/>
            </a:solidFill>
          </p:spPr>
        </p:sp>
      </p:grpSp>
      <p:grpSp>
        <p:nvGrpSpPr>
          <p:cNvPr id="14" name="Group 14"/>
          <p:cNvGrpSpPr/>
          <p:nvPr/>
        </p:nvGrpSpPr>
        <p:grpSpPr>
          <a:xfrm>
            <a:off x="6559306" y="3394624"/>
            <a:ext cx="5169246" cy="850554"/>
            <a:chOff x="0" y="0"/>
            <a:chExt cx="6892328" cy="1134072"/>
          </a:xfrm>
        </p:grpSpPr>
        <p:sp>
          <p:nvSpPr>
            <p:cNvPr id="15" name="Freeform 15"/>
            <p:cNvSpPr/>
            <p:nvPr/>
          </p:nvSpPr>
          <p:spPr>
            <a:xfrm>
              <a:off x="0" y="0"/>
              <a:ext cx="6892290" cy="1133983"/>
            </a:xfrm>
            <a:custGeom>
              <a:avLst/>
              <a:gdLst/>
              <a:ahLst/>
              <a:cxnLst/>
              <a:rect l="l" t="t" r="r" b="b"/>
              <a:pathLst>
                <a:path w="6892290" h="1133983">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E2E3E9"/>
            </a:solidFill>
          </p:spPr>
        </p:sp>
      </p:grpSp>
      <p:sp>
        <p:nvSpPr>
          <p:cNvPr id="16" name="Freeform 16" descr="preencoded.png"/>
          <p:cNvSpPr/>
          <p:nvPr/>
        </p:nvSpPr>
        <p:spPr>
          <a:xfrm>
            <a:off x="8931326" y="3602384"/>
            <a:ext cx="425206" cy="425206"/>
          </a:xfrm>
          <a:custGeom>
            <a:avLst/>
            <a:gdLst/>
            <a:ahLst/>
            <a:cxnLst/>
            <a:rect l="l" t="t" r="r" b="b"/>
            <a:pathLst>
              <a:path w="425206" h="425206">
                <a:moveTo>
                  <a:pt x="0" y="0"/>
                </a:moveTo>
                <a:lnTo>
                  <a:pt x="425205" y="0"/>
                </a:lnTo>
                <a:lnTo>
                  <a:pt x="425205" y="425205"/>
                </a:lnTo>
                <a:lnTo>
                  <a:pt x="0" y="425205"/>
                </a:lnTo>
                <a:lnTo>
                  <a:pt x="0" y="0"/>
                </a:lnTo>
                <a:close/>
              </a:path>
            </a:pathLst>
          </a:custGeom>
          <a:blipFill>
            <a:blip r:embed="rId5">
              <a:extLst>
                <a:ext uri="{96DAC541-7B7A-43D3-8B79-37D633B846F1}">
                  <asvg:svgBlip xmlns:asvg="http://schemas.microsoft.com/office/drawing/2016/SVG/main" r:embed="rId6"/>
                </a:ext>
              </a:extLst>
            </a:blip>
            <a:stretch>
              <a:fillRect l="-4444" r="-4444"/>
            </a:stretch>
          </a:blipFill>
        </p:spPr>
      </p:sp>
      <p:sp>
        <p:nvSpPr>
          <p:cNvPr id="17" name="TextBox 17"/>
          <p:cNvSpPr txBox="1"/>
          <p:nvPr/>
        </p:nvSpPr>
        <p:spPr>
          <a:xfrm>
            <a:off x="6842817" y="4490590"/>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Administrador</a:t>
            </a:r>
          </a:p>
        </p:txBody>
      </p:sp>
      <p:sp>
        <p:nvSpPr>
          <p:cNvPr id="18" name="TextBox 18"/>
          <p:cNvSpPr txBox="1"/>
          <p:nvPr/>
        </p:nvSpPr>
        <p:spPr>
          <a:xfrm>
            <a:off x="6842817" y="5036934"/>
            <a:ext cx="4602213" cy="2671842"/>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5B5F71"/>
                </a:solidFill>
                <a:latin typeface="Arimo"/>
                <a:ea typeface="Arimo"/>
                <a:cs typeface="Arimo"/>
                <a:sym typeface="Arimo"/>
              </a:rPr>
              <a:t> Navegación del dashboard y sus diferentes secciones</a:t>
            </a:r>
          </a:p>
          <a:p>
            <a:pPr marL="329902" lvl="1" indent="-164951" algn="l">
              <a:lnSpc>
                <a:spcPts val="3562"/>
              </a:lnSpc>
              <a:buFont typeface="Arial"/>
              <a:buChar char="•"/>
            </a:pPr>
            <a:r>
              <a:rPr lang="en-US" sz="2187">
                <a:solidFill>
                  <a:srgbClr val="5B5F71"/>
                </a:solidFill>
                <a:latin typeface="Arimo"/>
                <a:ea typeface="Arimo"/>
                <a:cs typeface="Arimo"/>
                <a:sym typeface="Arimo"/>
              </a:rPr>
              <a:t>  Monitoreo en tiempo real de las estadísticas del evento</a:t>
            </a:r>
          </a:p>
          <a:p>
            <a:pPr marL="329764" lvl="1" indent="-164882" algn="l">
              <a:lnSpc>
                <a:spcPts val="3561"/>
              </a:lnSpc>
              <a:buFont typeface="Arial"/>
              <a:buChar char="•"/>
            </a:pPr>
            <a:r>
              <a:rPr lang="en-US" sz="2187">
                <a:solidFill>
                  <a:srgbClr val="5B5F71"/>
                </a:solidFill>
                <a:latin typeface="Arimo"/>
                <a:ea typeface="Arimo"/>
                <a:cs typeface="Arimo"/>
                <a:sym typeface="Arimo"/>
              </a:rPr>
              <a:t>  Gestión de pases e invitados, así como organización de mesas</a:t>
            </a:r>
          </a:p>
        </p:txBody>
      </p:sp>
      <p:grpSp>
        <p:nvGrpSpPr>
          <p:cNvPr id="19" name="Group 19"/>
          <p:cNvGrpSpPr/>
          <p:nvPr/>
        </p:nvGrpSpPr>
        <p:grpSpPr>
          <a:xfrm>
            <a:off x="12031113" y="3337474"/>
            <a:ext cx="5283546" cy="5064919"/>
            <a:chOff x="0" y="0"/>
            <a:chExt cx="7044728" cy="6753225"/>
          </a:xfrm>
        </p:grpSpPr>
        <p:sp>
          <p:nvSpPr>
            <p:cNvPr id="20" name="Freeform 20"/>
            <p:cNvSpPr/>
            <p:nvPr/>
          </p:nvSpPr>
          <p:spPr>
            <a:xfrm>
              <a:off x="25400" y="25400"/>
              <a:ext cx="6994017" cy="6702425"/>
            </a:xfrm>
            <a:custGeom>
              <a:avLst/>
              <a:gdLst/>
              <a:ahLst/>
              <a:cxnLst/>
              <a:rect l="l" t="t" r="r" b="b"/>
              <a:pathLst>
                <a:path w="6994017" h="6702425">
                  <a:moveTo>
                    <a:pt x="0" y="158750"/>
                  </a:moveTo>
                  <a:cubicBezTo>
                    <a:pt x="0" y="71120"/>
                    <a:pt x="71120" y="0"/>
                    <a:pt x="158877" y="0"/>
                  </a:cubicBezTo>
                  <a:lnTo>
                    <a:pt x="6835140" y="0"/>
                  </a:lnTo>
                  <a:cubicBezTo>
                    <a:pt x="6922897" y="0"/>
                    <a:pt x="6994017" y="71120"/>
                    <a:pt x="6994017" y="158750"/>
                  </a:cubicBezTo>
                  <a:lnTo>
                    <a:pt x="6994017" y="6543675"/>
                  </a:lnTo>
                  <a:cubicBezTo>
                    <a:pt x="6994017" y="6631305"/>
                    <a:pt x="6922897" y="6702425"/>
                    <a:pt x="6835140" y="6702425"/>
                  </a:cubicBezTo>
                  <a:lnTo>
                    <a:pt x="158877" y="6702425"/>
                  </a:lnTo>
                  <a:cubicBezTo>
                    <a:pt x="71120" y="6702425"/>
                    <a:pt x="0" y="6631305"/>
                    <a:pt x="0" y="6543675"/>
                  </a:cubicBezTo>
                  <a:close/>
                </a:path>
              </a:pathLst>
            </a:custGeom>
            <a:solidFill>
              <a:srgbClr val="FFFFFF">
                <a:alpha val="90196"/>
              </a:srgbClr>
            </a:solidFill>
          </p:spPr>
        </p:sp>
        <p:sp>
          <p:nvSpPr>
            <p:cNvPr id="21" name="Freeform 21"/>
            <p:cNvSpPr/>
            <p:nvPr/>
          </p:nvSpPr>
          <p:spPr>
            <a:xfrm>
              <a:off x="0" y="0"/>
              <a:ext cx="7044817" cy="6753225"/>
            </a:xfrm>
            <a:custGeom>
              <a:avLst/>
              <a:gdLst/>
              <a:ahLst/>
              <a:cxnLst/>
              <a:rect l="l" t="t" r="r" b="b"/>
              <a:pathLst>
                <a:path w="7044817" h="6753225">
                  <a:moveTo>
                    <a:pt x="0" y="184150"/>
                  </a:moveTo>
                  <a:cubicBezTo>
                    <a:pt x="0" y="82423"/>
                    <a:pt x="82550" y="0"/>
                    <a:pt x="184277" y="0"/>
                  </a:cubicBezTo>
                  <a:lnTo>
                    <a:pt x="6860540" y="0"/>
                  </a:lnTo>
                  <a:lnTo>
                    <a:pt x="6860540" y="25400"/>
                  </a:lnTo>
                  <a:lnTo>
                    <a:pt x="6860540" y="0"/>
                  </a:lnTo>
                  <a:cubicBezTo>
                    <a:pt x="6962267" y="0"/>
                    <a:pt x="7044817" y="82423"/>
                    <a:pt x="7044817" y="184150"/>
                  </a:cubicBezTo>
                  <a:lnTo>
                    <a:pt x="7019417" y="184150"/>
                  </a:lnTo>
                  <a:lnTo>
                    <a:pt x="7044817" y="184150"/>
                  </a:lnTo>
                  <a:lnTo>
                    <a:pt x="7044817" y="6569075"/>
                  </a:lnTo>
                  <a:lnTo>
                    <a:pt x="7019417" y="6569075"/>
                  </a:lnTo>
                  <a:lnTo>
                    <a:pt x="7044817" y="6569075"/>
                  </a:lnTo>
                  <a:cubicBezTo>
                    <a:pt x="7044817" y="6670802"/>
                    <a:pt x="6962267" y="6753225"/>
                    <a:pt x="6860540" y="6753225"/>
                  </a:cubicBezTo>
                  <a:lnTo>
                    <a:pt x="6860540" y="6727825"/>
                  </a:lnTo>
                  <a:lnTo>
                    <a:pt x="6860540" y="6753225"/>
                  </a:lnTo>
                  <a:lnTo>
                    <a:pt x="184277" y="6753225"/>
                  </a:lnTo>
                  <a:lnTo>
                    <a:pt x="184277" y="6727825"/>
                  </a:lnTo>
                  <a:lnTo>
                    <a:pt x="184277" y="6753225"/>
                  </a:lnTo>
                  <a:cubicBezTo>
                    <a:pt x="82550" y="6753225"/>
                    <a:pt x="0" y="6670802"/>
                    <a:pt x="0" y="6569075"/>
                  </a:cubicBezTo>
                  <a:lnTo>
                    <a:pt x="0" y="184150"/>
                  </a:lnTo>
                  <a:lnTo>
                    <a:pt x="25400" y="184150"/>
                  </a:lnTo>
                  <a:lnTo>
                    <a:pt x="0" y="184150"/>
                  </a:lnTo>
                  <a:moveTo>
                    <a:pt x="50800" y="184150"/>
                  </a:moveTo>
                  <a:lnTo>
                    <a:pt x="50800" y="6569075"/>
                  </a:lnTo>
                  <a:lnTo>
                    <a:pt x="25400" y="6569075"/>
                  </a:lnTo>
                  <a:lnTo>
                    <a:pt x="50800" y="6569075"/>
                  </a:lnTo>
                  <a:cubicBezTo>
                    <a:pt x="50800" y="6642735"/>
                    <a:pt x="110490" y="6702425"/>
                    <a:pt x="184277" y="6702425"/>
                  </a:cubicBezTo>
                  <a:lnTo>
                    <a:pt x="6860540" y="6702425"/>
                  </a:lnTo>
                  <a:cubicBezTo>
                    <a:pt x="6934200" y="6702425"/>
                    <a:pt x="6994017" y="6642735"/>
                    <a:pt x="6994017" y="6569075"/>
                  </a:cubicBezTo>
                  <a:lnTo>
                    <a:pt x="6994017" y="184150"/>
                  </a:lnTo>
                  <a:cubicBezTo>
                    <a:pt x="6993890" y="110490"/>
                    <a:pt x="6934200" y="50800"/>
                    <a:pt x="6860540" y="50800"/>
                  </a:cubicBezTo>
                  <a:lnTo>
                    <a:pt x="184277" y="50800"/>
                  </a:lnTo>
                  <a:lnTo>
                    <a:pt x="184277" y="25400"/>
                  </a:lnTo>
                  <a:lnTo>
                    <a:pt x="184277" y="50800"/>
                  </a:lnTo>
                  <a:cubicBezTo>
                    <a:pt x="110490" y="50800"/>
                    <a:pt x="50800" y="110490"/>
                    <a:pt x="50800" y="184150"/>
                  </a:cubicBezTo>
                  <a:close/>
                </a:path>
              </a:pathLst>
            </a:custGeom>
            <a:solidFill>
              <a:srgbClr val="C8C9CF"/>
            </a:solidFill>
          </p:spPr>
        </p:sp>
      </p:grpSp>
      <p:grpSp>
        <p:nvGrpSpPr>
          <p:cNvPr id="22" name="Group 22"/>
          <p:cNvGrpSpPr/>
          <p:nvPr/>
        </p:nvGrpSpPr>
        <p:grpSpPr>
          <a:xfrm>
            <a:off x="12088263" y="3394624"/>
            <a:ext cx="5169246" cy="850554"/>
            <a:chOff x="0" y="0"/>
            <a:chExt cx="6892328" cy="1134072"/>
          </a:xfrm>
        </p:grpSpPr>
        <p:sp>
          <p:nvSpPr>
            <p:cNvPr id="23" name="Freeform 23"/>
            <p:cNvSpPr/>
            <p:nvPr/>
          </p:nvSpPr>
          <p:spPr>
            <a:xfrm>
              <a:off x="0" y="0"/>
              <a:ext cx="6892290" cy="1133983"/>
            </a:xfrm>
            <a:custGeom>
              <a:avLst/>
              <a:gdLst/>
              <a:ahLst/>
              <a:cxnLst/>
              <a:rect l="l" t="t" r="r" b="b"/>
              <a:pathLst>
                <a:path w="6892290" h="1133983">
                  <a:moveTo>
                    <a:pt x="0" y="97790"/>
                  </a:moveTo>
                  <a:cubicBezTo>
                    <a:pt x="0" y="43815"/>
                    <a:pt x="43815" y="0"/>
                    <a:pt x="97790" y="0"/>
                  </a:cubicBezTo>
                  <a:lnTo>
                    <a:pt x="6794500" y="0"/>
                  </a:lnTo>
                  <a:cubicBezTo>
                    <a:pt x="6848475" y="0"/>
                    <a:pt x="6892290" y="43815"/>
                    <a:pt x="6892290" y="97790"/>
                  </a:cubicBezTo>
                  <a:lnTo>
                    <a:pt x="6892290" y="1036193"/>
                  </a:lnTo>
                  <a:cubicBezTo>
                    <a:pt x="6892290" y="1090168"/>
                    <a:pt x="6848475" y="1133983"/>
                    <a:pt x="6794500" y="1133983"/>
                  </a:cubicBezTo>
                  <a:lnTo>
                    <a:pt x="97790" y="1133983"/>
                  </a:lnTo>
                  <a:cubicBezTo>
                    <a:pt x="43815" y="1133983"/>
                    <a:pt x="0" y="1090168"/>
                    <a:pt x="0" y="1036193"/>
                  </a:cubicBezTo>
                  <a:close/>
                </a:path>
              </a:pathLst>
            </a:custGeom>
            <a:solidFill>
              <a:srgbClr val="E2E3E9"/>
            </a:solidFill>
          </p:spPr>
        </p:sp>
      </p:grpSp>
      <p:sp>
        <p:nvSpPr>
          <p:cNvPr id="24" name="Freeform 24" descr="preencoded.png"/>
          <p:cNvSpPr/>
          <p:nvPr/>
        </p:nvSpPr>
        <p:spPr>
          <a:xfrm>
            <a:off x="14460293" y="3602384"/>
            <a:ext cx="425206" cy="425206"/>
          </a:xfrm>
          <a:custGeom>
            <a:avLst/>
            <a:gdLst/>
            <a:ahLst/>
            <a:cxnLst/>
            <a:rect l="l" t="t" r="r" b="b"/>
            <a:pathLst>
              <a:path w="425206" h="425206">
                <a:moveTo>
                  <a:pt x="0" y="0"/>
                </a:moveTo>
                <a:lnTo>
                  <a:pt x="425206" y="0"/>
                </a:lnTo>
                <a:lnTo>
                  <a:pt x="425206" y="425205"/>
                </a:lnTo>
                <a:lnTo>
                  <a:pt x="0" y="425205"/>
                </a:lnTo>
                <a:lnTo>
                  <a:pt x="0" y="0"/>
                </a:lnTo>
                <a:close/>
              </a:path>
            </a:pathLst>
          </a:custGeom>
          <a:blipFill>
            <a:blip r:embed="rId7">
              <a:extLst>
                <a:ext uri="{96DAC541-7B7A-43D3-8B79-37D633B846F1}">
                  <asvg:svgBlip xmlns:asvg="http://schemas.microsoft.com/office/drawing/2016/SVG/main" r:embed="rId8"/>
                </a:ext>
              </a:extLst>
            </a:blip>
            <a:stretch>
              <a:fillRect l="-1111" r="-1111"/>
            </a:stretch>
          </a:blipFill>
        </p:spPr>
      </p:sp>
      <p:sp>
        <p:nvSpPr>
          <p:cNvPr id="25" name="TextBox 25"/>
          <p:cNvSpPr txBox="1"/>
          <p:nvPr/>
        </p:nvSpPr>
        <p:spPr>
          <a:xfrm>
            <a:off x="12371784" y="4490590"/>
            <a:ext cx="3544043" cy="481012"/>
          </a:xfrm>
          <a:prstGeom prst="rect">
            <a:avLst/>
          </a:prstGeom>
        </p:spPr>
        <p:txBody>
          <a:bodyPr lIns="0" tIns="0" rIns="0" bIns="0" rtlCol="0" anchor="t">
            <a:spAutoFit/>
          </a:bodyPr>
          <a:lstStyle/>
          <a:p>
            <a:pPr algn="l">
              <a:lnSpc>
                <a:spcPts val="3437"/>
              </a:lnSpc>
            </a:pPr>
            <a:r>
              <a:rPr lang="en-US" sz="2750" b="1">
                <a:solidFill>
                  <a:srgbClr val="5B5F71"/>
                </a:solidFill>
                <a:latin typeface="Arimo Bold"/>
                <a:ea typeface="Arimo Bold"/>
                <a:cs typeface="Arimo Bold"/>
                <a:sym typeface="Arimo Bold"/>
              </a:rPr>
              <a:t>Invitados</a:t>
            </a:r>
          </a:p>
        </p:txBody>
      </p:sp>
      <p:sp>
        <p:nvSpPr>
          <p:cNvPr id="26" name="TextBox 26"/>
          <p:cNvSpPr txBox="1"/>
          <p:nvPr/>
        </p:nvSpPr>
        <p:spPr>
          <a:xfrm>
            <a:off x="12371784" y="5036934"/>
            <a:ext cx="4602213" cy="267176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5B5F71"/>
                </a:solidFill>
                <a:latin typeface="Arimo"/>
                <a:ea typeface="Arimo"/>
                <a:cs typeface="Arimo"/>
                <a:sym typeface="Arimo"/>
              </a:rPr>
              <a:t> Recepción del código de acceso mediante WhatsApp</a:t>
            </a:r>
          </a:p>
          <a:p>
            <a:pPr marL="329902" lvl="1" indent="-164951" algn="l">
              <a:lnSpc>
                <a:spcPts val="3562"/>
              </a:lnSpc>
              <a:buFont typeface="Arial"/>
              <a:buChar char="•"/>
            </a:pPr>
            <a:r>
              <a:rPr lang="en-US" sz="2187">
                <a:solidFill>
                  <a:srgbClr val="5B5F71"/>
                </a:solidFill>
                <a:latin typeface="Arimo"/>
                <a:ea typeface="Arimo"/>
                <a:cs typeface="Arimo"/>
                <a:sym typeface="Arimo"/>
              </a:rPr>
              <a:t> Confirmación de asistencia en la plataforma</a:t>
            </a:r>
          </a:p>
          <a:p>
            <a:pPr marL="329902" lvl="1" indent="-164951" algn="l">
              <a:lnSpc>
                <a:spcPts val="3562"/>
              </a:lnSpc>
              <a:buFont typeface="Arial"/>
              <a:buChar char="•"/>
            </a:pPr>
            <a:r>
              <a:rPr lang="en-US" sz="2187">
                <a:solidFill>
                  <a:srgbClr val="5B5F71"/>
                </a:solidFill>
                <a:latin typeface="Arimo"/>
                <a:ea typeface="Arimo"/>
                <a:cs typeface="Arimo"/>
                <a:sym typeface="Arimo"/>
              </a:rPr>
              <a:t> Descarga y uso de la invitación digital con código QR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50069"/>
            <a:ext cx="11696700" cy="825995"/>
          </a:xfrm>
          <a:prstGeom prst="rect">
            <a:avLst/>
          </a:prstGeom>
        </p:spPr>
        <p:txBody>
          <a:bodyPr wrap="square" lIns="0" tIns="0" rIns="0" bIns="0" rtlCol="0" anchor="t">
            <a:spAutoFit/>
          </a:bodyPr>
          <a:lstStyle/>
          <a:p>
            <a:pPr algn="l">
              <a:lnSpc>
                <a:spcPts val="6937"/>
              </a:lnSpc>
            </a:pPr>
            <a:r>
              <a:rPr lang="en-US" sz="5562" b="1" dirty="0" err="1">
                <a:solidFill>
                  <a:srgbClr val="505468"/>
                </a:solidFill>
                <a:latin typeface="Arimo Bold"/>
                <a:ea typeface="Arimo Bold"/>
                <a:cs typeface="Arimo Bold"/>
                <a:sym typeface="Arimo Bold"/>
              </a:rPr>
              <a:t>Evidencias</a:t>
            </a:r>
            <a:r>
              <a:rPr lang="en-US" sz="5562" b="1" dirty="0">
                <a:solidFill>
                  <a:srgbClr val="505468"/>
                </a:solidFill>
                <a:latin typeface="Arimo Bold"/>
                <a:ea typeface="Arimo Bold"/>
                <a:cs typeface="Arimo Bold"/>
                <a:sym typeface="Arimo Bold"/>
              </a:rPr>
              <a:t> de </a:t>
            </a:r>
            <a:r>
              <a:rPr lang="en-US" sz="5562" b="1" dirty="0" err="1">
                <a:solidFill>
                  <a:srgbClr val="505468"/>
                </a:solidFill>
                <a:latin typeface="Arimo Bold"/>
                <a:ea typeface="Arimo Bold"/>
                <a:cs typeface="Arimo Bold"/>
                <a:sym typeface="Arimo Bold"/>
              </a:rPr>
              <a:t>Implantación</a:t>
            </a:r>
            <a:endParaRPr lang="en-US" sz="5562" b="1" dirty="0">
              <a:solidFill>
                <a:srgbClr val="505468"/>
              </a:solidFill>
              <a:latin typeface="Arimo Bold"/>
              <a:ea typeface="Arimo Bold"/>
              <a:cs typeface="Arimo Bold"/>
              <a:sym typeface="Arimo Bold"/>
            </a:endParaRPr>
          </a:p>
        </p:txBody>
      </p:sp>
      <p:sp>
        <p:nvSpPr>
          <p:cNvPr id="3" name="TextBox 3"/>
          <p:cNvSpPr txBox="1"/>
          <p:nvPr/>
        </p:nvSpPr>
        <p:spPr>
          <a:xfrm>
            <a:off x="514350" y="1841237"/>
            <a:ext cx="17259300" cy="657634"/>
          </a:xfrm>
          <a:prstGeom prst="rect">
            <a:avLst/>
          </a:prstGeom>
        </p:spPr>
        <p:txBody>
          <a:bodyPr lIns="0" tIns="0" rIns="0" bIns="0" rtlCol="0" anchor="t">
            <a:spAutoFit/>
          </a:bodyPr>
          <a:lstStyle/>
          <a:p>
            <a:pPr algn="ctr">
              <a:lnSpc>
                <a:spcPts val="2651"/>
              </a:lnSpc>
              <a:spcBef>
                <a:spcPct val="0"/>
              </a:spcBef>
            </a:pPr>
            <a:r>
              <a:rPr lang="en-US" sz="2025">
                <a:solidFill>
                  <a:srgbClr val="505468"/>
                </a:solidFill>
                <a:latin typeface="Montserrat"/>
                <a:ea typeface="Montserrat"/>
                <a:cs typeface="Montserrat"/>
                <a:sym typeface="Montserrat"/>
              </a:rPr>
              <a:t>Durante la implantación del sistema EventControl, se pudo observar su funcionamiento en condiciones reales, donde el personal de acceso utilizó el escáner QR para registrar la entrada de invitados, mientras que el dashboard reflejaba la información en tiempo real.</a:t>
            </a:r>
          </a:p>
        </p:txBody>
      </p:sp>
      <p:sp>
        <p:nvSpPr>
          <p:cNvPr id="4" name="Freeform 4"/>
          <p:cNvSpPr/>
          <p:nvPr/>
        </p:nvSpPr>
        <p:spPr>
          <a:xfrm>
            <a:off x="1329954" y="3208654"/>
            <a:ext cx="5002773" cy="6670364"/>
          </a:xfrm>
          <a:custGeom>
            <a:avLst/>
            <a:gdLst/>
            <a:ahLst/>
            <a:cxnLst/>
            <a:rect l="l" t="t" r="r" b="b"/>
            <a:pathLst>
              <a:path w="5002773" h="6670364">
                <a:moveTo>
                  <a:pt x="0" y="0"/>
                </a:moveTo>
                <a:lnTo>
                  <a:pt x="5002773" y="0"/>
                </a:lnTo>
                <a:lnTo>
                  <a:pt x="5002773" y="6670364"/>
                </a:lnTo>
                <a:lnTo>
                  <a:pt x="0" y="6670364"/>
                </a:lnTo>
                <a:lnTo>
                  <a:pt x="0" y="0"/>
                </a:lnTo>
                <a:close/>
              </a:path>
            </a:pathLst>
          </a:custGeom>
          <a:blipFill>
            <a:blip r:embed="rId3"/>
            <a:stretch>
              <a:fillRect/>
            </a:stretch>
          </a:blipFill>
        </p:spPr>
      </p:sp>
      <p:sp>
        <p:nvSpPr>
          <p:cNvPr id="5" name="Freeform 5"/>
          <p:cNvSpPr/>
          <p:nvPr/>
        </p:nvSpPr>
        <p:spPr>
          <a:xfrm>
            <a:off x="6642667" y="3208654"/>
            <a:ext cx="5002773" cy="6670364"/>
          </a:xfrm>
          <a:custGeom>
            <a:avLst/>
            <a:gdLst/>
            <a:ahLst/>
            <a:cxnLst/>
            <a:rect l="l" t="t" r="r" b="b"/>
            <a:pathLst>
              <a:path w="5002773" h="6670364">
                <a:moveTo>
                  <a:pt x="0" y="0"/>
                </a:moveTo>
                <a:lnTo>
                  <a:pt x="5002773" y="0"/>
                </a:lnTo>
                <a:lnTo>
                  <a:pt x="5002773" y="6670364"/>
                </a:lnTo>
                <a:lnTo>
                  <a:pt x="0" y="6670364"/>
                </a:lnTo>
                <a:lnTo>
                  <a:pt x="0" y="0"/>
                </a:lnTo>
                <a:close/>
              </a:path>
            </a:pathLst>
          </a:custGeom>
          <a:blipFill>
            <a:blip r:embed="rId4"/>
            <a:stretch>
              <a:fillRect/>
            </a:stretch>
          </a:blipFill>
        </p:spPr>
      </p:sp>
      <p:sp>
        <p:nvSpPr>
          <p:cNvPr id="6" name="Freeform 6"/>
          <p:cNvSpPr/>
          <p:nvPr/>
        </p:nvSpPr>
        <p:spPr>
          <a:xfrm>
            <a:off x="11955273" y="3208654"/>
            <a:ext cx="5002773" cy="6670364"/>
          </a:xfrm>
          <a:custGeom>
            <a:avLst/>
            <a:gdLst/>
            <a:ahLst/>
            <a:cxnLst/>
            <a:rect l="l" t="t" r="r" b="b"/>
            <a:pathLst>
              <a:path w="5002773" h="6670364">
                <a:moveTo>
                  <a:pt x="0" y="0"/>
                </a:moveTo>
                <a:lnTo>
                  <a:pt x="5002773" y="0"/>
                </a:lnTo>
                <a:lnTo>
                  <a:pt x="5002773" y="6670364"/>
                </a:lnTo>
                <a:lnTo>
                  <a:pt x="0" y="6670364"/>
                </a:lnTo>
                <a:lnTo>
                  <a:pt x="0" y="0"/>
                </a:lnTo>
                <a:close/>
              </a:path>
            </a:pathLst>
          </a:custGeom>
          <a:blipFill>
            <a:blip r:embed="rId5"/>
            <a:stretch>
              <a:fillRect/>
            </a:stretch>
          </a:blipFill>
        </p:spPr>
      </p:sp>
      <p:sp>
        <p:nvSpPr>
          <p:cNvPr id="7" name="TextBox 7"/>
          <p:cNvSpPr txBox="1"/>
          <p:nvPr/>
        </p:nvSpPr>
        <p:spPr>
          <a:xfrm>
            <a:off x="3645309" y="2880401"/>
            <a:ext cx="10359426" cy="231971"/>
          </a:xfrm>
          <a:prstGeom prst="rect">
            <a:avLst/>
          </a:prstGeom>
        </p:spPr>
        <p:txBody>
          <a:bodyPr lIns="0" tIns="0" rIns="0" bIns="0" rtlCol="0" anchor="t">
            <a:spAutoFit/>
          </a:bodyPr>
          <a:lstStyle/>
          <a:p>
            <a:pPr algn="ctr">
              <a:lnSpc>
                <a:spcPts val="1726"/>
              </a:lnSpc>
              <a:spcBef>
                <a:spcPct val="0"/>
              </a:spcBef>
            </a:pPr>
            <a:r>
              <a:rPr lang="en-US" sz="1381" b="1">
                <a:solidFill>
                  <a:srgbClr val="505468"/>
                </a:solidFill>
                <a:latin typeface="Arimo Bold"/>
                <a:ea typeface="Arimo Bold"/>
                <a:cs typeface="Arimo Bold"/>
                <a:sym typeface="Arimo Bold"/>
              </a:rPr>
              <a:t> Invitación digital generada con el nombre de la familia, mesa asignada, código QR legible y código alfanumérico de acceso.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550069"/>
            <a:ext cx="8949095" cy="900112"/>
          </a:xfrm>
          <a:prstGeom prst="rect">
            <a:avLst/>
          </a:prstGeom>
        </p:spPr>
        <p:txBody>
          <a:bodyPr lIns="0" tIns="0" rIns="0" bIns="0" rtlCol="0" anchor="t">
            <a:spAutoFit/>
          </a:bodyPr>
          <a:lstStyle/>
          <a:p>
            <a:pPr algn="l">
              <a:lnSpc>
                <a:spcPts val="6937"/>
              </a:lnSpc>
            </a:pPr>
            <a:r>
              <a:rPr lang="en-US" sz="5562" b="1">
                <a:solidFill>
                  <a:srgbClr val="505468"/>
                </a:solidFill>
                <a:latin typeface="Arimo Bold"/>
                <a:ea typeface="Arimo Bold"/>
                <a:cs typeface="Arimo Bold"/>
                <a:sym typeface="Arimo Bold"/>
              </a:rPr>
              <a:t>Documentación Entregada</a:t>
            </a:r>
          </a:p>
        </p:txBody>
      </p:sp>
      <p:sp>
        <p:nvSpPr>
          <p:cNvPr id="3" name="TextBox 3"/>
          <p:cNvSpPr txBox="1"/>
          <p:nvPr/>
        </p:nvSpPr>
        <p:spPr>
          <a:xfrm>
            <a:off x="1671353" y="1758958"/>
            <a:ext cx="14464779" cy="643138"/>
          </a:xfrm>
          <a:prstGeom prst="rect">
            <a:avLst/>
          </a:prstGeom>
        </p:spPr>
        <p:txBody>
          <a:bodyPr lIns="0" tIns="0" rIns="0" bIns="0" rtlCol="0" anchor="t">
            <a:spAutoFit/>
          </a:bodyPr>
          <a:lstStyle/>
          <a:p>
            <a:pPr algn="ctr">
              <a:lnSpc>
                <a:spcPts val="2495"/>
              </a:lnSpc>
              <a:spcBef>
                <a:spcPct val="0"/>
              </a:spcBef>
            </a:pPr>
            <a:r>
              <a:rPr lang="en-US" sz="1987">
                <a:solidFill>
                  <a:srgbClr val="505468"/>
                </a:solidFill>
                <a:latin typeface="Arimo"/>
                <a:ea typeface="Arimo"/>
                <a:cs typeface="Arimo"/>
                <a:sym typeface="Arimo"/>
              </a:rPr>
              <a:t>Como parte de la implantación, se entregó una guía básica de uso del sistema, donde se explican las principales funciones para cada tipo de usuario. Esto permite que el sistema pueda ser utilizado sin necesidad de conocimientos técnicos avanzados.</a:t>
            </a:r>
          </a:p>
        </p:txBody>
      </p:sp>
      <p:sp>
        <p:nvSpPr>
          <p:cNvPr id="4" name="TextBox 4"/>
          <p:cNvSpPr txBox="1"/>
          <p:nvPr/>
        </p:nvSpPr>
        <p:spPr>
          <a:xfrm>
            <a:off x="290631" y="2833107"/>
            <a:ext cx="7129857" cy="2943809"/>
          </a:xfrm>
          <a:prstGeom prst="rect">
            <a:avLst/>
          </a:prstGeom>
        </p:spPr>
        <p:txBody>
          <a:bodyPr lIns="0" tIns="0" rIns="0" bIns="0" rtlCol="0" anchor="t">
            <a:spAutoFit/>
          </a:bodyPr>
          <a:lstStyle/>
          <a:p>
            <a:pPr algn="ctr">
              <a:lnSpc>
                <a:spcPts val="1782"/>
              </a:lnSpc>
              <a:spcBef>
                <a:spcPct val="0"/>
              </a:spcBef>
            </a:pPr>
            <a:r>
              <a:rPr lang="en-US" sz="1419" b="1">
                <a:solidFill>
                  <a:srgbClr val="505468"/>
                </a:solidFill>
                <a:latin typeface="Arimo Bold"/>
                <a:ea typeface="Arimo Bold"/>
                <a:cs typeface="Arimo Bold"/>
                <a:sym typeface="Arimo Bold"/>
              </a:rPr>
              <a:t>Acceso al Sistema</a:t>
            </a:r>
          </a:p>
          <a:p>
            <a:pPr algn="ctr">
              <a:lnSpc>
                <a:spcPts val="1782"/>
              </a:lnSpc>
              <a:spcBef>
                <a:spcPct val="0"/>
              </a:spcBef>
            </a:pPr>
            <a:r>
              <a:rPr lang="en-US" sz="1419">
                <a:solidFill>
                  <a:srgbClr val="505468"/>
                </a:solidFill>
                <a:latin typeface="Arimo"/>
                <a:ea typeface="Arimo"/>
                <a:cs typeface="Arimo"/>
                <a:sym typeface="Arimo"/>
              </a:rPr>
              <a:t>• URL principal: https://eventcontrol-lac.vercel.app</a:t>
            </a:r>
          </a:p>
          <a:p>
            <a:pPr algn="ctr">
              <a:lnSpc>
                <a:spcPts val="1782"/>
              </a:lnSpc>
              <a:spcBef>
                <a:spcPct val="0"/>
              </a:spcBef>
            </a:pPr>
            <a:r>
              <a:rPr lang="en-US" sz="1419">
                <a:solidFill>
                  <a:srgbClr val="505468"/>
                </a:solidFill>
                <a:latin typeface="Arimo"/>
                <a:ea typeface="Arimo"/>
                <a:cs typeface="Arimo"/>
                <a:sym typeface="Arimo"/>
              </a:rPr>
              <a:t>• Panel de administración: https://eventcontrol-lac.vercel.app/admin</a:t>
            </a:r>
          </a:p>
          <a:p>
            <a:pPr algn="ctr">
              <a:lnSpc>
                <a:spcPts val="1780"/>
              </a:lnSpc>
              <a:spcBef>
                <a:spcPct val="0"/>
              </a:spcBef>
            </a:pPr>
            <a:endParaRPr lang="en-US" sz="1419">
              <a:solidFill>
                <a:srgbClr val="505468"/>
              </a:solidFill>
              <a:latin typeface="Arimo"/>
              <a:ea typeface="Arimo"/>
              <a:cs typeface="Arimo"/>
              <a:sym typeface="Arimo"/>
            </a:endParaRPr>
          </a:p>
          <a:p>
            <a:pPr algn="ctr">
              <a:lnSpc>
                <a:spcPts val="1780"/>
              </a:lnSpc>
              <a:spcBef>
                <a:spcPct val="0"/>
              </a:spcBef>
            </a:pPr>
            <a:r>
              <a:rPr lang="en-US" sz="1419" b="1">
                <a:solidFill>
                  <a:srgbClr val="505468"/>
                </a:solidFill>
                <a:latin typeface="Arimo Bold"/>
                <a:ea typeface="Arimo Bold"/>
                <a:cs typeface="Arimo Bold"/>
                <a:sym typeface="Arimo Bold"/>
              </a:rPr>
              <a:t>Credenciales de acceso Panel de Administracion</a:t>
            </a:r>
          </a:p>
          <a:p>
            <a:pPr algn="ctr">
              <a:lnSpc>
                <a:spcPts val="1780"/>
              </a:lnSpc>
              <a:spcBef>
                <a:spcPct val="0"/>
              </a:spcBef>
            </a:pPr>
            <a:r>
              <a:rPr lang="en-US" sz="1419">
                <a:solidFill>
                  <a:srgbClr val="505468"/>
                </a:solidFill>
                <a:latin typeface="Arimo"/>
                <a:ea typeface="Arimo"/>
                <a:cs typeface="Arimo"/>
                <a:sym typeface="Arimo"/>
              </a:rPr>
              <a:t>Novio (Abidan): USUARIO: </a:t>
            </a:r>
            <a:r>
              <a:rPr lang="en-US" sz="1419" b="1">
                <a:solidFill>
                  <a:srgbClr val="505468"/>
                </a:solidFill>
                <a:latin typeface="Arimo Bold"/>
                <a:ea typeface="Arimo Bold"/>
                <a:cs typeface="Arimo Bold"/>
                <a:sym typeface="Arimo Bold"/>
              </a:rPr>
              <a:t>abi@miboda.com</a:t>
            </a:r>
            <a:r>
              <a:rPr lang="en-US" sz="1419">
                <a:solidFill>
                  <a:srgbClr val="505468"/>
                </a:solidFill>
                <a:latin typeface="Arimo"/>
                <a:ea typeface="Arimo"/>
                <a:cs typeface="Arimo"/>
                <a:sym typeface="Arimo"/>
              </a:rPr>
              <a:t> CONTRASEÑA: </a:t>
            </a:r>
            <a:r>
              <a:rPr lang="en-US" sz="1419" b="1">
                <a:solidFill>
                  <a:srgbClr val="505468"/>
                </a:solidFill>
                <a:latin typeface="Arimo Bold"/>
                <a:ea typeface="Arimo Bold"/>
                <a:cs typeface="Arimo Bold"/>
                <a:sym typeface="Arimo Bold"/>
              </a:rPr>
              <a:t>Abidan2024!</a:t>
            </a:r>
          </a:p>
          <a:p>
            <a:pPr algn="ctr">
              <a:lnSpc>
                <a:spcPts val="1780"/>
              </a:lnSpc>
              <a:spcBef>
                <a:spcPct val="0"/>
              </a:spcBef>
            </a:pPr>
            <a:r>
              <a:rPr lang="en-US" sz="1419">
                <a:solidFill>
                  <a:srgbClr val="505468"/>
                </a:solidFill>
                <a:latin typeface="Arimo"/>
                <a:ea typeface="Arimo"/>
                <a:cs typeface="Arimo"/>
                <a:sym typeface="Arimo"/>
              </a:rPr>
              <a:t>Novia (Betsaida):</a:t>
            </a:r>
            <a:r>
              <a:rPr lang="en-US" sz="1419" b="1">
                <a:solidFill>
                  <a:srgbClr val="505468"/>
                </a:solidFill>
                <a:latin typeface="Arimo Bold"/>
                <a:ea typeface="Arimo Bold"/>
                <a:cs typeface="Arimo Bold"/>
                <a:sym typeface="Arimo Bold"/>
              </a:rPr>
              <a:t> </a:t>
            </a:r>
            <a:r>
              <a:rPr lang="en-US" sz="1419">
                <a:solidFill>
                  <a:srgbClr val="505468"/>
                </a:solidFill>
                <a:latin typeface="Arimo"/>
                <a:ea typeface="Arimo"/>
                <a:cs typeface="Arimo"/>
                <a:sym typeface="Arimo"/>
              </a:rPr>
              <a:t>USUARIO: </a:t>
            </a:r>
            <a:r>
              <a:rPr lang="en-US" sz="1419" b="1">
                <a:solidFill>
                  <a:srgbClr val="505468"/>
                </a:solidFill>
                <a:latin typeface="Arimo Bold"/>
                <a:ea typeface="Arimo Bold"/>
                <a:cs typeface="Arimo Bold"/>
                <a:sym typeface="Arimo Bold"/>
              </a:rPr>
              <a:t>betsi@miboda.com</a:t>
            </a:r>
            <a:r>
              <a:rPr lang="en-US" sz="1419">
                <a:solidFill>
                  <a:srgbClr val="505468"/>
                </a:solidFill>
                <a:latin typeface="Arimo"/>
                <a:ea typeface="Arimo"/>
                <a:cs typeface="Arimo"/>
                <a:sym typeface="Arimo"/>
              </a:rPr>
              <a:t> CONTRASEÑA: </a:t>
            </a:r>
            <a:r>
              <a:rPr lang="en-US" sz="1419" b="1">
                <a:solidFill>
                  <a:srgbClr val="505468"/>
                </a:solidFill>
                <a:latin typeface="Arimo Bold"/>
                <a:ea typeface="Arimo Bold"/>
                <a:cs typeface="Arimo Bold"/>
                <a:sym typeface="Arimo Bold"/>
              </a:rPr>
              <a:t>Betsi2024! </a:t>
            </a:r>
          </a:p>
          <a:p>
            <a:pPr algn="ctr">
              <a:lnSpc>
                <a:spcPts val="1780"/>
              </a:lnSpc>
              <a:spcBef>
                <a:spcPct val="0"/>
              </a:spcBef>
            </a:pPr>
            <a:endParaRPr lang="en-US" sz="1419" b="1">
              <a:solidFill>
                <a:srgbClr val="505468"/>
              </a:solidFill>
              <a:latin typeface="Arimo Bold"/>
              <a:ea typeface="Arimo Bold"/>
              <a:cs typeface="Arimo Bold"/>
              <a:sym typeface="Arimo Bold"/>
            </a:endParaRPr>
          </a:p>
          <a:p>
            <a:pPr algn="ctr">
              <a:lnSpc>
                <a:spcPts val="1780"/>
              </a:lnSpc>
              <a:spcBef>
                <a:spcPct val="0"/>
              </a:spcBef>
            </a:pPr>
            <a:endParaRPr lang="en-US" sz="1419" b="1">
              <a:solidFill>
                <a:srgbClr val="505468"/>
              </a:solidFill>
              <a:latin typeface="Arimo Bold"/>
              <a:ea typeface="Arimo Bold"/>
              <a:cs typeface="Arimo Bold"/>
              <a:sym typeface="Arimo Bold"/>
            </a:endParaRPr>
          </a:p>
          <a:p>
            <a:pPr algn="ctr">
              <a:lnSpc>
                <a:spcPts val="1780"/>
              </a:lnSpc>
              <a:spcBef>
                <a:spcPct val="0"/>
              </a:spcBef>
            </a:pPr>
            <a:r>
              <a:rPr lang="en-US" sz="1419" b="1">
                <a:solidFill>
                  <a:srgbClr val="505468"/>
                </a:solidFill>
                <a:latin typeface="Arimo Bold"/>
                <a:ea typeface="Arimo Bold"/>
                <a:cs typeface="Arimo Bold"/>
                <a:sym typeface="Arimo Bold"/>
              </a:rPr>
              <a:t>Control de Acceso</a:t>
            </a:r>
          </a:p>
          <a:p>
            <a:pPr algn="ctr">
              <a:lnSpc>
                <a:spcPts val="1780"/>
              </a:lnSpc>
              <a:spcBef>
                <a:spcPct val="0"/>
              </a:spcBef>
            </a:pPr>
            <a:r>
              <a:rPr lang="en-US" sz="1419">
                <a:solidFill>
                  <a:srgbClr val="505468"/>
                </a:solidFill>
                <a:latin typeface="Arimo"/>
                <a:ea typeface="Arimo"/>
                <a:cs typeface="Arimo"/>
                <a:sym typeface="Arimo"/>
              </a:rPr>
              <a:t>Recepcion: USUARIO: </a:t>
            </a:r>
            <a:r>
              <a:rPr lang="en-US" sz="1419" b="1">
                <a:solidFill>
                  <a:srgbClr val="505468"/>
                </a:solidFill>
                <a:latin typeface="Arimo Bold"/>
                <a:ea typeface="Arimo Bold"/>
                <a:cs typeface="Arimo Bold"/>
                <a:sym typeface="Arimo Bold"/>
              </a:rPr>
              <a:t>recepcion@miboda.com</a:t>
            </a:r>
            <a:r>
              <a:rPr lang="en-US" sz="1419">
                <a:solidFill>
                  <a:srgbClr val="505468"/>
                </a:solidFill>
                <a:latin typeface="Arimo"/>
                <a:ea typeface="Arimo"/>
                <a:cs typeface="Arimo"/>
                <a:sym typeface="Arimo"/>
              </a:rPr>
              <a:t> CONTRASEÑA: </a:t>
            </a:r>
            <a:r>
              <a:rPr lang="en-US" sz="1419" b="1">
                <a:solidFill>
                  <a:srgbClr val="505468"/>
                </a:solidFill>
                <a:latin typeface="Arimo Bold"/>
                <a:ea typeface="Arimo Bold"/>
                <a:cs typeface="Arimo Bold"/>
                <a:sym typeface="Arimo Bold"/>
              </a:rPr>
              <a:t>Recepcion2024!</a:t>
            </a:r>
          </a:p>
          <a:p>
            <a:pPr algn="ctr">
              <a:lnSpc>
                <a:spcPts val="1780"/>
              </a:lnSpc>
              <a:spcBef>
                <a:spcPct val="0"/>
              </a:spcBef>
            </a:pPr>
            <a:endParaRPr lang="en-US" sz="1419" b="1">
              <a:solidFill>
                <a:srgbClr val="505468"/>
              </a:solidFill>
              <a:latin typeface="Arimo Bold"/>
              <a:ea typeface="Arimo Bold"/>
              <a:cs typeface="Arimo Bold"/>
              <a:sym typeface="Arimo Bold"/>
            </a:endParaRPr>
          </a:p>
          <a:p>
            <a:pPr algn="ctr">
              <a:lnSpc>
                <a:spcPts val="1782"/>
              </a:lnSpc>
              <a:spcBef>
                <a:spcPct val="0"/>
              </a:spcBef>
            </a:pPr>
            <a:endParaRPr lang="en-US" sz="1419" b="1">
              <a:solidFill>
                <a:srgbClr val="505468"/>
              </a:solidFill>
              <a:latin typeface="Arimo Bold"/>
              <a:ea typeface="Arimo Bold"/>
              <a:cs typeface="Arimo Bold"/>
              <a:sym typeface="Arimo Bold"/>
            </a:endParaRPr>
          </a:p>
        </p:txBody>
      </p:sp>
      <p:sp>
        <p:nvSpPr>
          <p:cNvPr id="5" name="TextBox 5"/>
          <p:cNvSpPr txBox="1"/>
          <p:nvPr/>
        </p:nvSpPr>
        <p:spPr>
          <a:xfrm>
            <a:off x="1028700" y="5757866"/>
            <a:ext cx="6166553" cy="4345441"/>
          </a:xfrm>
          <a:prstGeom prst="rect">
            <a:avLst/>
          </a:prstGeom>
        </p:spPr>
        <p:txBody>
          <a:bodyPr lIns="0" tIns="0" rIns="0" bIns="0" rtlCol="0" anchor="t">
            <a:spAutoFit/>
          </a:bodyPr>
          <a:lstStyle/>
          <a:p>
            <a:pPr algn="l">
              <a:lnSpc>
                <a:spcPts val="1442"/>
              </a:lnSpc>
              <a:spcBef>
                <a:spcPct val="0"/>
              </a:spcBef>
            </a:pPr>
            <a:r>
              <a:rPr lang="en-US" sz="1148" b="1">
                <a:solidFill>
                  <a:srgbClr val="505468"/>
                </a:solidFill>
                <a:latin typeface="Arimo Bold"/>
                <a:ea typeface="Arimo Bold"/>
                <a:cs typeface="Arimo Bold"/>
                <a:sym typeface="Arimo Bold"/>
              </a:rPr>
              <a:t>Panel de Administracion</a:t>
            </a:r>
          </a:p>
          <a:p>
            <a:pPr marL="248045" lvl="1" indent="-124022" algn="l">
              <a:lnSpc>
                <a:spcPts val="1442"/>
              </a:lnSpc>
              <a:buFont typeface="Arial"/>
              <a:buChar char="•"/>
            </a:pPr>
            <a:r>
              <a:rPr lang="en-US" sz="1148">
                <a:solidFill>
                  <a:srgbClr val="505468"/>
                </a:solidFill>
                <a:latin typeface="Arimo"/>
                <a:ea typeface="Arimo"/>
                <a:cs typeface="Arimo"/>
                <a:sym typeface="Arimo"/>
              </a:rPr>
              <a:t>Para los novios. Permite gestionar todo el evento.</a:t>
            </a:r>
          </a:p>
          <a:p>
            <a:pPr marL="248045" lvl="1" indent="-124022" algn="l">
              <a:lnSpc>
                <a:spcPts val="1442"/>
              </a:lnSpc>
              <a:buFont typeface="Arial"/>
              <a:buChar char="•"/>
            </a:pPr>
            <a:r>
              <a:rPr lang="en-US" sz="1148">
                <a:solidFill>
                  <a:srgbClr val="505468"/>
                </a:solidFill>
                <a:latin typeface="Arimo"/>
                <a:ea typeface="Arimo"/>
                <a:cs typeface="Arimo"/>
                <a:sym typeface="Arimo"/>
              </a:rPr>
              <a:t>Resumen — Ver cuantos invitados hay, cuantos confirmaron y cuantos ya estan dentro.</a:t>
            </a:r>
          </a:p>
          <a:p>
            <a:pPr marL="248045" lvl="1" indent="-124022" algn="l">
              <a:lnSpc>
                <a:spcPts val="1442"/>
              </a:lnSpc>
              <a:buFont typeface="Arial"/>
              <a:buChar char="•"/>
            </a:pPr>
            <a:r>
              <a:rPr lang="en-US" sz="1148">
                <a:solidFill>
                  <a:srgbClr val="505468"/>
                </a:solidFill>
                <a:latin typeface="Arimo"/>
                <a:ea typeface="Arimo"/>
                <a:cs typeface="Arimo"/>
                <a:sym typeface="Arimo"/>
              </a:rPr>
              <a:t>En Vivo — Ver en tiempo real quien va llegando al evento.</a:t>
            </a:r>
          </a:p>
          <a:p>
            <a:pPr marL="248045" lvl="1" indent="-124022" algn="l">
              <a:lnSpc>
                <a:spcPts val="1442"/>
              </a:lnSpc>
              <a:buFont typeface="Arial"/>
              <a:buChar char="•"/>
            </a:pPr>
            <a:r>
              <a:rPr lang="en-US" sz="1148">
                <a:solidFill>
                  <a:srgbClr val="505468"/>
                </a:solidFill>
                <a:latin typeface="Arimo"/>
                <a:ea typeface="Arimo"/>
                <a:cs typeface="Arimo"/>
                <a:sym typeface="Arimo"/>
              </a:rPr>
              <a:t>Mesas — Crear mesas y definir cuantas personas caben en cada una.</a:t>
            </a:r>
          </a:p>
          <a:p>
            <a:pPr marL="248045" lvl="1" indent="-124022" algn="l">
              <a:lnSpc>
                <a:spcPts val="1442"/>
              </a:lnSpc>
              <a:buFont typeface="Arial"/>
              <a:buChar char="•"/>
            </a:pPr>
            <a:r>
              <a:rPr lang="en-US" sz="1148">
                <a:solidFill>
                  <a:srgbClr val="505468"/>
                </a:solidFill>
                <a:latin typeface="Arimo"/>
                <a:ea typeface="Arimo"/>
                <a:cs typeface="Arimo"/>
                <a:sym typeface="Arimo"/>
              </a:rPr>
              <a:t>Crear Pases — Registrar familias, asignarles mesa y generar su codigo de 4 digitos.</a:t>
            </a:r>
          </a:p>
          <a:p>
            <a:pPr marL="248045" lvl="1" indent="-124022" algn="l">
              <a:lnSpc>
                <a:spcPts val="1441"/>
              </a:lnSpc>
              <a:buFont typeface="Arial"/>
              <a:buChar char="•"/>
            </a:pPr>
            <a:r>
              <a:rPr lang="en-US" sz="1148">
                <a:solidFill>
                  <a:srgbClr val="505468"/>
                </a:solidFill>
                <a:latin typeface="Arimo"/>
                <a:ea typeface="Arimo"/>
                <a:cs typeface="Arimo"/>
                <a:sym typeface="Arimo"/>
              </a:rPr>
              <a:t>Invitados — Buscar y filtrar invitados por estado o por quien los creo.</a:t>
            </a:r>
          </a:p>
          <a:p>
            <a:pPr algn="l">
              <a:lnSpc>
                <a:spcPts val="1442"/>
              </a:lnSpc>
              <a:spcBef>
                <a:spcPct val="0"/>
              </a:spcBef>
            </a:pPr>
            <a:endParaRPr lang="en-US" sz="1148">
              <a:solidFill>
                <a:srgbClr val="505468"/>
              </a:solidFill>
              <a:latin typeface="Arimo"/>
              <a:ea typeface="Arimo"/>
              <a:cs typeface="Arimo"/>
              <a:sym typeface="Arimo"/>
            </a:endParaRPr>
          </a:p>
          <a:p>
            <a:pPr algn="l">
              <a:lnSpc>
                <a:spcPts val="1442"/>
              </a:lnSpc>
              <a:spcBef>
                <a:spcPct val="0"/>
              </a:spcBef>
            </a:pPr>
            <a:r>
              <a:rPr lang="en-US" sz="1148" b="1">
                <a:solidFill>
                  <a:srgbClr val="505468"/>
                </a:solidFill>
                <a:latin typeface="Arimo Bold"/>
                <a:ea typeface="Arimo Bold"/>
                <a:cs typeface="Arimo Bold"/>
                <a:sym typeface="Arimo Bold"/>
              </a:rPr>
              <a:t>Control de Acceso </a:t>
            </a:r>
          </a:p>
          <a:p>
            <a:pPr marL="248045" lvl="1" indent="-124022" algn="l">
              <a:lnSpc>
                <a:spcPts val="1442"/>
              </a:lnSpc>
              <a:buAutoNum type="arabicPeriod"/>
            </a:pPr>
            <a:r>
              <a:rPr lang="en-US" sz="1148">
                <a:solidFill>
                  <a:srgbClr val="505468"/>
                </a:solidFill>
                <a:latin typeface="Arimo"/>
                <a:ea typeface="Arimo"/>
                <a:cs typeface="Arimo"/>
                <a:sym typeface="Arimo"/>
              </a:rPr>
              <a:t>Para el personal de recepcion. Sirve para registrar la entrada de invitados.</a:t>
            </a:r>
          </a:p>
          <a:p>
            <a:pPr marL="248045" lvl="1" indent="-124022" algn="l">
              <a:lnSpc>
                <a:spcPts val="1442"/>
              </a:lnSpc>
              <a:buAutoNum type="arabicPeriod"/>
            </a:pPr>
            <a:r>
              <a:rPr lang="en-US" sz="1148">
                <a:solidFill>
                  <a:srgbClr val="505468"/>
                </a:solidFill>
                <a:latin typeface="Arimo"/>
                <a:ea typeface="Arimo"/>
                <a:cs typeface="Arimo"/>
                <a:sym typeface="Arimo"/>
              </a:rPr>
              <a:t>Iniciar sesion con las credenciales de recepcion.</a:t>
            </a:r>
          </a:p>
          <a:p>
            <a:pPr marL="248045" lvl="1" indent="-124022" algn="l">
              <a:lnSpc>
                <a:spcPts val="1442"/>
              </a:lnSpc>
              <a:buAutoNum type="arabicPeriod"/>
            </a:pPr>
            <a:r>
              <a:rPr lang="en-US" sz="1148">
                <a:solidFill>
                  <a:srgbClr val="505468"/>
                </a:solidFill>
                <a:latin typeface="Arimo"/>
                <a:ea typeface="Arimo"/>
                <a:cs typeface="Arimo"/>
                <a:sym typeface="Arimo"/>
              </a:rPr>
              <a:t>Apuntar la camara al codigo QR del invitado.</a:t>
            </a:r>
          </a:p>
          <a:p>
            <a:pPr marL="248045" lvl="1" indent="-124022" algn="l">
              <a:lnSpc>
                <a:spcPts val="1442"/>
              </a:lnSpc>
              <a:buAutoNum type="arabicPeriod"/>
            </a:pPr>
            <a:r>
              <a:rPr lang="en-US" sz="1148">
                <a:solidFill>
                  <a:srgbClr val="505468"/>
                </a:solidFill>
                <a:latin typeface="Arimo"/>
                <a:ea typeface="Arimo"/>
                <a:cs typeface="Arimo"/>
                <a:sym typeface="Arimo"/>
              </a:rPr>
              <a:t>Verificar que el nombre y mesa sean correctos.</a:t>
            </a:r>
          </a:p>
          <a:p>
            <a:pPr marL="248045" lvl="1" indent="-124022" algn="l">
              <a:lnSpc>
                <a:spcPts val="1442"/>
              </a:lnSpc>
              <a:buAutoNum type="arabicPeriod"/>
            </a:pPr>
            <a:r>
              <a:rPr lang="en-US" sz="1148">
                <a:solidFill>
                  <a:srgbClr val="505468"/>
                </a:solidFill>
                <a:latin typeface="Arimo"/>
                <a:ea typeface="Arimo"/>
                <a:cs typeface="Arimo"/>
                <a:sym typeface="Arimo"/>
              </a:rPr>
              <a:t>Indicar cuantas personas estan entrando.</a:t>
            </a:r>
          </a:p>
          <a:p>
            <a:pPr marL="248045" lvl="1" indent="-124022" algn="l">
              <a:lnSpc>
                <a:spcPts val="1442"/>
              </a:lnSpc>
              <a:buAutoNum type="arabicPeriod"/>
            </a:pPr>
            <a:r>
              <a:rPr lang="en-US" sz="1148">
                <a:solidFill>
                  <a:srgbClr val="505468"/>
                </a:solidFill>
                <a:latin typeface="Arimo"/>
                <a:ea typeface="Arimo"/>
                <a:cs typeface="Arimo"/>
                <a:sym typeface="Arimo"/>
              </a:rPr>
              <a:t>Hacer clic en "Confirmar Entrada".</a:t>
            </a:r>
          </a:p>
          <a:p>
            <a:pPr marL="248045" lvl="1" indent="-124022" algn="l">
              <a:lnSpc>
                <a:spcPts val="1441"/>
              </a:lnSpc>
              <a:buAutoNum type="arabicPeriod"/>
            </a:pPr>
            <a:r>
              <a:rPr lang="en-US" sz="1148">
                <a:solidFill>
                  <a:srgbClr val="505468"/>
                </a:solidFill>
                <a:latin typeface="Arimo"/>
                <a:ea typeface="Arimo"/>
                <a:cs typeface="Arimo"/>
                <a:sym typeface="Arimo"/>
              </a:rPr>
              <a:t>Si el QR no se lee: Pedir al invitado su codigo de 4 digitos y escribirlo en el campo de texto.</a:t>
            </a:r>
          </a:p>
          <a:p>
            <a:pPr algn="l">
              <a:lnSpc>
                <a:spcPts val="1442"/>
              </a:lnSpc>
              <a:spcBef>
                <a:spcPct val="0"/>
              </a:spcBef>
            </a:pPr>
            <a:endParaRPr lang="en-US" sz="1148">
              <a:solidFill>
                <a:srgbClr val="505468"/>
              </a:solidFill>
              <a:latin typeface="Arimo"/>
              <a:ea typeface="Arimo"/>
              <a:cs typeface="Arimo"/>
              <a:sym typeface="Arimo"/>
            </a:endParaRPr>
          </a:p>
          <a:p>
            <a:pPr algn="l">
              <a:lnSpc>
                <a:spcPts val="1442"/>
              </a:lnSpc>
              <a:spcBef>
                <a:spcPct val="0"/>
              </a:spcBef>
            </a:pPr>
            <a:r>
              <a:rPr lang="en-US" sz="1148" b="1">
                <a:solidFill>
                  <a:srgbClr val="505468"/>
                </a:solidFill>
                <a:latin typeface="Arimo Bold"/>
                <a:ea typeface="Arimo Bold"/>
                <a:cs typeface="Arimo Bold"/>
                <a:sym typeface="Arimo Bold"/>
              </a:rPr>
              <a:t>Confirmacion de Invitados</a:t>
            </a:r>
          </a:p>
          <a:p>
            <a:pPr marL="248045" lvl="1" indent="-124022" algn="l">
              <a:lnSpc>
                <a:spcPts val="1442"/>
              </a:lnSpc>
              <a:buAutoNum type="arabicPeriod"/>
            </a:pPr>
            <a:r>
              <a:rPr lang="en-US" sz="1148">
                <a:solidFill>
                  <a:srgbClr val="505468"/>
                </a:solidFill>
                <a:latin typeface="Arimo"/>
                <a:ea typeface="Arimo"/>
                <a:cs typeface="Arimo"/>
                <a:sym typeface="Arimo"/>
              </a:rPr>
              <a:t>Para los invitados. No necesitan cuenta ni contrasena.</a:t>
            </a:r>
          </a:p>
          <a:p>
            <a:pPr marL="248045" lvl="1" indent="-124022" algn="l">
              <a:lnSpc>
                <a:spcPts val="1442"/>
              </a:lnSpc>
              <a:buAutoNum type="arabicPeriod"/>
            </a:pPr>
            <a:r>
              <a:rPr lang="en-US" sz="1148">
                <a:solidFill>
                  <a:srgbClr val="505468"/>
                </a:solidFill>
                <a:latin typeface="Arimo"/>
                <a:ea typeface="Arimo"/>
                <a:cs typeface="Arimo"/>
                <a:sym typeface="Arimo"/>
              </a:rPr>
              <a:t>Abrir https://eventcontrol-lac.vercel.app/confirm/</a:t>
            </a:r>
          </a:p>
          <a:p>
            <a:pPr marL="248045" lvl="1" indent="-124022" algn="l">
              <a:lnSpc>
                <a:spcPts val="1442"/>
              </a:lnSpc>
              <a:buAutoNum type="arabicPeriod"/>
            </a:pPr>
            <a:r>
              <a:rPr lang="en-US" sz="1148">
                <a:solidFill>
                  <a:srgbClr val="505468"/>
                </a:solidFill>
                <a:latin typeface="Arimo"/>
                <a:ea typeface="Arimo"/>
                <a:cs typeface="Arimo"/>
                <a:sym typeface="Arimo"/>
              </a:rPr>
              <a:t>Escribir el codigo de 4 digitos que les dieron los novios.</a:t>
            </a:r>
          </a:p>
          <a:p>
            <a:pPr marL="248045" lvl="1" indent="-124022" algn="l">
              <a:lnSpc>
                <a:spcPts val="1442"/>
              </a:lnSpc>
              <a:buAutoNum type="arabicPeriod"/>
            </a:pPr>
            <a:r>
              <a:rPr lang="en-US" sz="1148">
                <a:solidFill>
                  <a:srgbClr val="505468"/>
                </a:solidFill>
                <a:latin typeface="Arimo"/>
                <a:ea typeface="Arimo"/>
                <a:cs typeface="Arimo"/>
                <a:sym typeface="Arimo"/>
              </a:rPr>
              <a:t>Hacer clic en "Verificar Codigo".</a:t>
            </a:r>
          </a:p>
          <a:p>
            <a:pPr marL="248045" lvl="1" indent="-124022" algn="l">
              <a:lnSpc>
                <a:spcPts val="1442"/>
              </a:lnSpc>
              <a:buAutoNum type="arabicPeriod"/>
            </a:pPr>
            <a:r>
              <a:rPr lang="en-US" sz="1148">
                <a:solidFill>
                  <a:srgbClr val="505468"/>
                </a:solidFill>
                <a:latin typeface="Arimo"/>
                <a:ea typeface="Arimo"/>
                <a:cs typeface="Arimo"/>
                <a:sym typeface="Arimo"/>
              </a:rPr>
              <a:t>Descargar la invitacion con codigo QR.</a:t>
            </a:r>
          </a:p>
          <a:p>
            <a:pPr marL="248045" lvl="1" indent="-124022" algn="l">
              <a:lnSpc>
                <a:spcPts val="1442"/>
              </a:lnSpc>
              <a:buAutoNum type="arabicPeriod"/>
            </a:pPr>
            <a:r>
              <a:rPr lang="en-US" sz="1148">
                <a:solidFill>
                  <a:srgbClr val="505468"/>
                </a:solidFill>
                <a:latin typeface="Arimo"/>
                <a:ea typeface="Arimo"/>
                <a:cs typeface="Arimo"/>
                <a:sym typeface="Arimo"/>
              </a:rPr>
              <a:t>Guardarla en el celular y presentarla el dia del evento.</a:t>
            </a:r>
          </a:p>
        </p:txBody>
      </p:sp>
      <p:sp>
        <p:nvSpPr>
          <p:cNvPr id="6" name="TextBox 6"/>
          <p:cNvSpPr txBox="1"/>
          <p:nvPr/>
        </p:nvSpPr>
        <p:spPr>
          <a:xfrm>
            <a:off x="9138719" y="3079079"/>
            <a:ext cx="8120581" cy="5783724"/>
          </a:xfrm>
          <a:prstGeom prst="rect">
            <a:avLst/>
          </a:prstGeom>
        </p:spPr>
        <p:txBody>
          <a:bodyPr lIns="0" tIns="0" rIns="0" bIns="0" rtlCol="0" anchor="t">
            <a:spAutoFit/>
          </a:bodyPr>
          <a:lstStyle/>
          <a:p>
            <a:pPr algn="l">
              <a:lnSpc>
                <a:spcPts val="2372"/>
              </a:lnSpc>
              <a:spcBef>
                <a:spcPct val="0"/>
              </a:spcBef>
            </a:pPr>
            <a:r>
              <a:rPr lang="en-US" sz="1890" b="1">
                <a:solidFill>
                  <a:srgbClr val="505468"/>
                </a:solidFill>
                <a:latin typeface="Arimo Bold"/>
                <a:ea typeface="Arimo Bold"/>
                <a:cs typeface="Arimo Bold"/>
                <a:sym typeface="Arimo Bold"/>
              </a:rPr>
              <a:t>Guia Rapida para Escaneo QR</a:t>
            </a:r>
          </a:p>
          <a:p>
            <a:pPr algn="l">
              <a:lnSpc>
                <a:spcPts val="2373"/>
              </a:lnSpc>
              <a:spcBef>
                <a:spcPct val="0"/>
              </a:spcBef>
            </a:pPr>
            <a:endParaRPr lang="en-US" sz="1890" b="1">
              <a:solidFill>
                <a:srgbClr val="505468"/>
              </a:solidFill>
              <a:latin typeface="Arimo Bold"/>
              <a:ea typeface="Arimo Bold"/>
              <a:cs typeface="Arimo Bold"/>
              <a:sym typeface="Arimo Bold"/>
            </a:endParaRPr>
          </a:p>
          <a:p>
            <a:pPr algn="l">
              <a:lnSpc>
                <a:spcPts val="2373"/>
              </a:lnSpc>
              <a:spcBef>
                <a:spcPct val="0"/>
              </a:spcBef>
            </a:pPr>
            <a:r>
              <a:rPr lang="en-US" sz="1890" b="1">
                <a:solidFill>
                  <a:srgbClr val="505468"/>
                </a:solidFill>
                <a:latin typeface="Arimo Bold"/>
                <a:ea typeface="Arimo Bold"/>
                <a:cs typeface="Arimo Bold"/>
                <a:sym typeface="Arimo Bold"/>
              </a:rPr>
              <a:t>Requisitos:</a:t>
            </a:r>
          </a:p>
          <a:p>
            <a:pPr marL="408073" lvl="1" indent="-204037" algn="l">
              <a:lnSpc>
                <a:spcPts val="2373"/>
              </a:lnSpc>
              <a:buAutoNum type="arabicPeriod"/>
            </a:pPr>
            <a:r>
              <a:rPr lang="en-US" sz="1890">
                <a:solidFill>
                  <a:srgbClr val="505468"/>
                </a:solidFill>
                <a:latin typeface="Arimo"/>
                <a:ea typeface="Arimo"/>
                <a:cs typeface="Arimo"/>
                <a:sym typeface="Arimo"/>
              </a:rPr>
              <a:t>Celular o tablet con camara funcional</a:t>
            </a:r>
          </a:p>
          <a:p>
            <a:pPr marL="408073" lvl="1" indent="-204037" algn="l">
              <a:lnSpc>
                <a:spcPts val="2373"/>
              </a:lnSpc>
              <a:buAutoNum type="arabicPeriod"/>
            </a:pPr>
            <a:r>
              <a:rPr lang="en-US" sz="1890">
                <a:solidFill>
                  <a:srgbClr val="505468"/>
                </a:solidFill>
                <a:latin typeface="Arimo"/>
                <a:ea typeface="Arimo"/>
                <a:cs typeface="Arimo"/>
                <a:sym typeface="Arimo"/>
              </a:rPr>
              <a:t>Navegador actualizado (Chrome, Safari o Firefox)</a:t>
            </a:r>
          </a:p>
          <a:p>
            <a:pPr marL="408073" lvl="1" indent="-204037" algn="l">
              <a:lnSpc>
                <a:spcPts val="2372"/>
              </a:lnSpc>
              <a:buAutoNum type="arabicPeriod"/>
            </a:pPr>
            <a:r>
              <a:rPr lang="en-US" sz="1890">
                <a:solidFill>
                  <a:srgbClr val="505468"/>
                </a:solidFill>
                <a:latin typeface="Arimo"/>
                <a:ea typeface="Arimo"/>
                <a:cs typeface="Arimo"/>
                <a:sym typeface="Arimo"/>
              </a:rPr>
              <a:t>Conexion a internet</a:t>
            </a:r>
          </a:p>
          <a:p>
            <a:pPr algn="l">
              <a:lnSpc>
                <a:spcPts val="2373"/>
              </a:lnSpc>
              <a:spcBef>
                <a:spcPct val="0"/>
              </a:spcBef>
            </a:pPr>
            <a:endParaRPr lang="en-US" sz="1890">
              <a:solidFill>
                <a:srgbClr val="505468"/>
              </a:solidFill>
              <a:latin typeface="Arimo"/>
              <a:ea typeface="Arimo"/>
              <a:cs typeface="Arimo"/>
              <a:sym typeface="Arimo"/>
            </a:endParaRPr>
          </a:p>
          <a:p>
            <a:pPr algn="l">
              <a:lnSpc>
                <a:spcPts val="2373"/>
              </a:lnSpc>
              <a:spcBef>
                <a:spcPct val="0"/>
              </a:spcBef>
            </a:pPr>
            <a:r>
              <a:rPr lang="en-US" sz="1890" b="1">
                <a:solidFill>
                  <a:srgbClr val="505468"/>
                </a:solidFill>
                <a:latin typeface="Arimo Bold"/>
                <a:ea typeface="Arimo Bold"/>
                <a:cs typeface="Arimo Bold"/>
                <a:sym typeface="Arimo Bold"/>
              </a:rPr>
              <a:t>Pasos:</a:t>
            </a:r>
          </a:p>
          <a:p>
            <a:pPr marL="408073" lvl="1" indent="-204037" algn="l">
              <a:lnSpc>
                <a:spcPts val="2373"/>
              </a:lnSpc>
              <a:buAutoNum type="arabicPeriod"/>
            </a:pPr>
            <a:r>
              <a:rPr lang="en-US" sz="1890">
                <a:solidFill>
                  <a:srgbClr val="505468"/>
                </a:solidFill>
                <a:latin typeface="Arimo"/>
                <a:ea typeface="Arimo"/>
                <a:cs typeface="Arimo"/>
                <a:sym typeface="Arimo"/>
              </a:rPr>
              <a:t>Abrir https://eventcontrol-lac.vercel.app/access-control/ e iniciar sesion.</a:t>
            </a:r>
          </a:p>
          <a:p>
            <a:pPr marL="408073" lvl="1" indent="-204037" algn="l">
              <a:lnSpc>
                <a:spcPts val="2373"/>
              </a:lnSpc>
              <a:buAutoNum type="arabicPeriod"/>
            </a:pPr>
            <a:r>
              <a:rPr lang="en-US" sz="1890">
                <a:solidFill>
                  <a:srgbClr val="505468"/>
                </a:solidFill>
                <a:latin typeface="Arimo"/>
                <a:ea typeface="Arimo"/>
                <a:cs typeface="Arimo"/>
                <a:sym typeface="Arimo"/>
              </a:rPr>
              <a:t>Aceptar el permiso de camara cuando el navegador lo solicite.</a:t>
            </a:r>
          </a:p>
          <a:p>
            <a:pPr marL="408073" lvl="1" indent="-204037" algn="l">
              <a:lnSpc>
                <a:spcPts val="2373"/>
              </a:lnSpc>
              <a:buAutoNum type="arabicPeriod"/>
            </a:pPr>
            <a:r>
              <a:rPr lang="en-US" sz="1890">
                <a:solidFill>
                  <a:srgbClr val="505468"/>
                </a:solidFill>
                <a:latin typeface="Arimo"/>
                <a:ea typeface="Arimo"/>
                <a:cs typeface="Arimo"/>
                <a:sym typeface="Arimo"/>
              </a:rPr>
              <a:t>Apuntar la camara al QR del invitado.</a:t>
            </a:r>
          </a:p>
          <a:p>
            <a:pPr marL="408073" lvl="1" indent="-204037" algn="l">
              <a:lnSpc>
                <a:spcPts val="2373"/>
              </a:lnSpc>
              <a:buAutoNum type="arabicPeriod"/>
            </a:pPr>
            <a:r>
              <a:rPr lang="en-US" sz="1890">
                <a:solidFill>
                  <a:srgbClr val="505468"/>
                </a:solidFill>
                <a:latin typeface="Arimo"/>
                <a:ea typeface="Arimo"/>
                <a:cs typeface="Arimo"/>
                <a:sym typeface="Arimo"/>
              </a:rPr>
              <a:t>Verificar el nombre y datos del invitado en pantalla.</a:t>
            </a:r>
          </a:p>
          <a:p>
            <a:pPr marL="408073" lvl="1" indent="-204037" algn="l">
              <a:lnSpc>
                <a:spcPts val="2373"/>
              </a:lnSpc>
              <a:buAutoNum type="arabicPeriod"/>
            </a:pPr>
            <a:r>
              <a:rPr lang="en-US" sz="1890">
                <a:solidFill>
                  <a:srgbClr val="505468"/>
                </a:solidFill>
                <a:latin typeface="Arimo"/>
                <a:ea typeface="Arimo"/>
                <a:cs typeface="Arimo"/>
                <a:sym typeface="Arimo"/>
              </a:rPr>
              <a:t>Indicar cuantas personas entran.</a:t>
            </a:r>
          </a:p>
          <a:p>
            <a:pPr marL="408073" lvl="1" indent="-204037" algn="l">
              <a:lnSpc>
                <a:spcPts val="2372"/>
              </a:lnSpc>
              <a:buAutoNum type="arabicPeriod"/>
            </a:pPr>
            <a:r>
              <a:rPr lang="en-US" sz="1890">
                <a:solidFill>
                  <a:srgbClr val="505468"/>
                </a:solidFill>
                <a:latin typeface="Arimo"/>
                <a:ea typeface="Arimo"/>
                <a:cs typeface="Arimo"/>
                <a:sym typeface="Arimo"/>
              </a:rPr>
              <a:t>Hacer clic en "Confirmar Entrada".</a:t>
            </a:r>
          </a:p>
          <a:p>
            <a:pPr algn="l">
              <a:lnSpc>
                <a:spcPts val="2373"/>
              </a:lnSpc>
              <a:spcBef>
                <a:spcPct val="0"/>
              </a:spcBef>
            </a:pPr>
            <a:endParaRPr lang="en-US" sz="1890">
              <a:solidFill>
                <a:srgbClr val="505468"/>
              </a:solidFill>
              <a:latin typeface="Arimo"/>
              <a:ea typeface="Arimo"/>
              <a:cs typeface="Arimo"/>
              <a:sym typeface="Arimo"/>
            </a:endParaRPr>
          </a:p>
          <a:p>
            <a:pPr algn="l">
              <a:lnSpc>
                <a:spcPts val="2373"/>
              </a:lnSpc>
              <a:spcBef>
                <a:spcPct val="0"/>
              </a:spcBef>
            </a:pPr>
            <a:r>
              <a:rPr lang="en-US" sz="1890" b="1">
                <a:solidFill>
                  <a:srgbClr val="505468"/>
                </a:solidFill>
                <a:latin typeface="Arimo Bold"/>
                <a:ea typeface="Arimo Bold"/>
                <a:cs typeface="Arimo Bold"/>
                <a:sym typeface="Arimo Bold"/>
              </a:rPr>
              <a:t>Consejos:</a:t>
            </a:r>
          </a:p>
          <a:p>
            <a:pPr marL="408073" lvl="1" indent="-204037" algn="l">
              <a:lnSpc>
                <a:spcPts val="2373"/>
              </a:lnSpc>
              <a:buFont typeface="Arial"/>
              <a:buChar char="•"/>
            </a:pPr>
            <a:r>
              <a:rPr lang="en-US" sz="1890">
                <a:solidFill>
                  <a:srgbClr val="505468"/>
                </a:solidFill>
                <a:latin typeface="Arimo"/>
                <a:ea typeface="Arimo"/>
                <a:cs typeface="Arimo"/>
                <a:sym typeface="Arimo"/>
              </a:rPr>
              <a:t>Mantener el QR centrado en el recuadro de la camara.</a:t>
            </a:r>
          </a:p>
          <a:p>
            <a:pPr marL="408073" lvl="1" indent="-204037" algn="l">
              <a:lnSpc>
                <a:spcPts val="2373"/>
              </a:lnSpc>
              <a:buFont typeface="Arial"/>
              <a:buChar char="•"/>
            </a:pPr>
            <a:r>
              <a:rPr lang="en-US" sz="1890">
                <a:solidFill>
                  <a:srgbClr val="505468"/>
                </a:solidFill>
                <a:latin typeface="Arimo"/>
                <a:ea typeface="Arimo"/>
                <a:cs typeface="Arimo"/>
                <a:sym typeface="Arimo"/>
              </a:rPr>
              <a:t>Asegurarse de que haya buena iluminacion.</a:t>
            </a:r>
          </a:p>
          <a:p>
            <a:pPr marL="408073" lvl="1" indent="-204037" algn="l">
              <a:lnSpc>
                <a:spcPts val="2373"/>
              </a:lnSpc>
              <a:buFont typeface="Arial"/>
              <a:buChar char="•"/>
            </a:pPr>
            <a:r>
              <a:rPr lang="en-US" sz="1890">
                <a:solidFill>
                  <a:srgbClr val="505468"/>
                </a:solidFill>
                <a:latin typeface="Arimo"/>
                <a:ea typeface="Arimo"/>
                <a:cs typeface="Arimo"/>
                <a:sym typeface="Arimo"/>
              </a:rPr>
              <a:t>Si el QR esta en pantalla de celular, subir el brillo al maximo.</a:t>
            </a:r>
          </a:p>
          <a:p>
            <a:pPr marL="408073" lvl="1" indent="-204037" algn="l">
              <a:lnSpc>
                <a:spcPts val="2373"/>
              </a:lnSpc>
              <a:buFont typeface="Arial"/>
              <a:buChar char="•"/>
            </a:pPr>
            <a:r>
              <a:rPr lang="en-US" sz="1890">
                <a:solidFill>
                  <a:srgbClr val="505468"/>
                </a:solidFill>
                <a:latin typeface="Arimo"/>
                <a:ea typeface="Arimo"/>
                <a:cs typeface="Arimo"/>
                <a:sym typeface="Arimo"/>
              </a:rPr>
              <a:t>Si no se lee despues de 5 segundos, usar la entrada manual por codigo.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22559" y="310010"/>
            <a:ext cx="9159641" cy="1313501"/>
          </a:xfrm>
          <a:prstGeom prst="rect">
            <a:avLst/>
          </a:prstGeom>
        </p:spPr>
        <p:txBody>
          <a:bodyPr wrap="square" lIns="0" tIns="0" rIns="0" bIns="0" rtlCol="0" anchor="t">
            <a:spAutoFit/>
          </a:bodyPr>
          <a:lstStyle/>
          <a:p>
            <a:pPr algn="l">
              <a:lnSpc>
                <a:spcPts val="5312"/>
              </a:lnSpc>
            </a:pPr>
            <a:r>
              <a:rPr lang="en-US" sz="4250" b="1" dirty="0">
                <a:solidFill>
                  <a:srgbClr val="505468"/>
                </a:solidFill>
                <a:latin typeface="Arimo Bold"/>
                <a:ea typeface="Arimo Bold"/>
                <a:cs typeface="Arimo Bold"/>
                <a:sym typeface="Arimo Bold"/>
              </a:rPr>
              <a:t>Link </a:t>
            </a:r>
            <a:r>
              <a:rPr lang="en-US" sz="4250" b="1" dirty="0" err="1">
                <a:solidFill>
                  <a:srgbClr val="505468"/>
                </a:solidFill>
                <a:latin typeface="Arimo Bold"/>
                <a:ea typeface="Arimo Bold"/>
                <a:cs typeface="Arimo Bold"/>
                <a:sym typeface="Arimo Bold"/>
              </a:rPr>
              <a:t>Repositorio</a:t>
            </a:r>
            <a:r>
              <a:rPr lang="en-US" sz="4250" b="1" dirty="0">
                <a:solidFill>
                  <a:srgbClr val="505468"/>
                </a:solidFill>
                <a:latin typeface="Arimo Bold"/>
                <a:ea typeface="Arimo Bold"/>
                <a:cs typeface="Arimo Bold"/>
                <a:sym typeface="Arimo Bold"/>
              </a:rPr>
              <a:t> Git del Proyecto Event Control</a:t>
            </a:r>
          </a:p>
        </p:txBody>
      </p:sp>
      <p:sp>
        <p:nvSpPr>
          <p:cNvPr id="6" name="CuadroTexto 5">
            <a:extLst>
              <a:ext uri="{FF2B5EF4-FFF2-40B4-BE49-F238E27FC236}">
                <a16:creationId xmlns:a16="http://schemas.microsoft.com/office/drawing/2014/main" id="{BE56DFE2-80BA-A7B7-18EC-B85688720AF9}"/>
              </a:ext>
            </a:extLst>
          </p:cNvPr>
          <p:cNvSpPr txBox="1"/>
          <p:nvPr/>
        </p:nvSpPr>
        <p:spPr>
          <a:xfrm>
            <a:off x="875071" y="1943100"/>
            <a:ext cx="9144000" cy="1077218"/>
          </a:xfrm>
          <a:prstGeom prst="rect">
            <a:avLst/>
          </a:prstGeom>
          <a:noFill/>
        </p:spPr>
        <p:txBody>
          <a:bodyPr wrap="square">
            <a:spAutoFit/>
          </a:bodyPr>
          <a:lstStyle/>
          <a:p>
            <a:r>
              <a:rPr lang="es-MX" sz="3200" dirty="0">
                <a:hlinkClick r:id="rId3"/>
              </a:rPr>
              <a:t>https://github.com/rafaelrav8770/eventcontrol.git</a:t>
            </a:r>
            <a:endParaRPr lang="es-MX" sz="3200" dirty="0"/>
          </a:p>
          <a:p>
            <a:endParaRPr lang="es-MX" sz="3200" dirty="0"/>
          </a:p>
        </p:txBody>
      </p:sp>
    </p:spTree>
    <p:extLst>
      <p:ext uri="{BB962C8B-B14F-4D97-AF65-F5344CB8AC3E}">
        <p14:creationId xmlns:p14="http://schemas.microsoft.com/office/powerpoint/2010/main" val="71337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6781" y="1053103"/>
            <a:ext cx="6548590" cy="875709"/>
          </a:xfrm>
          <a:prstGeom prst="rect">
            <a:avLst/>
          </a:prstGeom>
        </p:spPr>
        <p:txBody>
          <a:bodyPr lIns="0" tIns="0" rIns="0" bIns="0" rtlCol="0" anchor="t">
            <a:spAutoFit/>
          </a:bodyPr>
          <a:lstStyle/>
          <a:p>
            <a:pPr algn="l">
              <a:lnSpc>
                <a:spcPts val="6437"/>
              </a:lnSpc>
            </a:pPr>
            <a:r>
              <a:rPr lang="en-US" sz="5125" b="1">
                <a:solidFill>
                  <a:srgbClr val="505468"/>
                </a:solidFill>
                <a:latin typeface="Arimo Bold"/>
                <a:ea typeface="Arimo Bold"/>
                <a:cs typeface="Arimo Bold"/>
                <a:sym typeface="Arimo Bold"/>
              </a:rPr>
              <a:t>Conclusión</a:t>
            </a:r>
          </a:p>
        </p:txBody>
      </p:sp>
      <p:sp>
        <p:nvSpPr>
          <p:cNvPr id="3" name="TextBox 3"/>
          <p:cNvSpPr txBox="1"/>
          <p:nvPr/>
        </p:nvSpPr>
        <p:spPr>
          <a:xfrm>
            <a:off x="2043952" y="2617951"/>
            <a:ext cx="12536795" cy="1270836"/>
          </a:xfrm>
          <a:prstGeom prst="rect">
            <a:avLst/>
          </a:prstGeom>
        </p:spPr>
        <p:txBody>
          <a:bodyPr lIns="0" tIns="0" rIns="0" bIns="0" rtlCol="0" anchor="t">
            <a:spAutoFit/>
          </a:bodyPr>
          <a:lstStyle/>
          <a:p>
            <a:pPr algn="l">
              <a:lnSpc>
                <a:spcPts val="3400"/>
              </a:lnSpc>
            </a:pPr>
            <a:r>
              <a:rPr lang="en-US" sz="2244">
                <a:solidFill>
                  <a:srgbClr val="5B5F71"/>
                </a:solidFill>
                <a:latin typeface="Arimo"/>
                <a:ea typeface="Arimo"/>
                <a:cs typeface="Arimo"/>
                <a:sym typeface="Arimo"/>
              </a:rPr>
              <a:t>En general, la implantación permitió comprobar que el sistema no solo funciona en pruebas, sino que también responde adecuadamente en un entorno real, lo cual es fundamental para cualquier desarrollo de software.</a:t>
            </a:r>
          </a:p>
        </p:txBody>
      </p:sp>
      <p:grpSp>
        <p:nvGrpSpPr>
          <p:cNvPr id="4" name="Group 4"/>
          <p:cNvGrpSpPr/>
          <p:nvPr/>
        </p:nvGrpSpPr>
        <p:grpSpPr>
          <a:xfrm>
            <a:off x="1616380" y="2407444"/>
            <a:ext cx="31096" cy="2346789"/>
            <a:chOff x="0" y="0"/>
            <a:chExt cx="38100" cy="2875356"/>
          </a:xfrm>
        </p:grpSpPr>
        <p:sp>
          <p:nvSpPr>
            <p:cNvPr id="5" name="Freeform 5"/>
            <p:cNvSpPr/>
            <p:nvPr/>
          </p:nvSpPr>
          <p:spPr>
            <a:xfrm>
              <a:off x="0" y="0"/>
              <a:ext cx="38100" cy="2875407"/>
            </a:xfrm>
            <a:custGeom>
              <a:avLst/>
              <a:gdLst/>
              <a:ahLst/>
              <a:cxnLst/>
              <a:rect l="l" t="t" r="r" b="b"/>
              <a:pathLst>
                <a:path w="38100" h="2875407">
                  <a:moveTo>
                    <a:pt x="0" y="0"/>
                  </a:moveTo>
                  <a:lnTo>
                    <a:pt x="38100" y="0"/>
                  </a:lnTo>
                  <a:lnTo>
                    <a:pt x="38100" y="2875407"/>
                  </a:lnTo>
                  <a:lnTo>
                    <a:pt x="0" y="2875407"/>
                  </a:lnTo>
                  <a:close/>
                </a:path>
              </a:pathLst>
            </a:custGeom>
            <a:solidFill>
              <a:srgbClr val="505468"/>
            </a:solidFill>
          </p:spPr>
        </p:sp>
      </p:grpSp>
      <p:sp>
        <p:nvSpPr>
          <p:cNvPr id="6" name="TextBox 6"/>
          <p:cNvSpPr txBox="1"/>
          <p:nvPr/>
        </p:nvSpPr>
        <p:spPr>
          <a:xfrm>
            <a:off x="3438508" y="5162543"/>
            <a:ext cx="3563106" cy="473966"/>
          </a:xfrm>
          <a:prstGeom prst="rect">
            <a:avLst/>
          </a:prstGeom>
        </p:spPr>
        <p:txBody>
          <a:bodyPr lIns="0" tIns="0" rIns="0" bIns="0" rtlCol="0" anchor="t">
            <a:spAutoFit/>
          </a:bodyPr>
          <a:lstStyle/>
          <a:p>
            <a:pPr algn="l">
              <a:lnSpc>
                <a:spcPts val="3468"/>
              </a:lnSpc>
            </a:pPr>
            <a:r>
              <a:rPr lang="en-US" sz="2788" b="1">
                <a:solidFill>
                  <a:srgbClr val="505468"/>
                </a:solidFill>
                <a:latin typeface="Arimo Bold"/>
                <a:ea typeface="Arimo Bold"/>
                <a:cs typeface="Arimo Bold"/>
                <a:sym typeface="Arimo Bold"/>
              </a:rPr>
              <a:t>Logros Principales</a:t>
            </a:r>
          </a:p>
        </p:txBody>
      </p:sp>
      <p:sp>
        <p:nvSpPr>
          <p:cNvPr id="7" name="TextBox 7"/>
          <p:cNvSpPr txBox="1"/>
          <p:nvPr/>
        </p:nvSpPr>
        <p:spPr>
          <a:xfrm>
            <a:off x="3438508" y="5814128"/>
            <a:ext cx="4873842" cy="3870879"/>
          </a:xfrm>
          <a:prstGeom prst="rect">
            <a:avLst/>
          </a:prstGeom>
        </p:spPr>
        <p:txBody>
          <a:bodyPr lIns="0" tIns="0" rIns="0" bIns="0" rtlCol="0" anchor="t">
            <a:spAutoFit/>
          </a:bodyPr>
          <a:lstStyle/>
          <a:p>
            <a:pPr marL="338495" lvl="1" indent="-169248" algn="l">
              <a:lnSpc>
                <a:spcPts val="3400"/>
              </a:lnSpc>
              <a:buFont typeface="Arial"/>
              <a:buChar char="•"/>
            </a:pPr>
            <a:r>
              <a:rPr lang="en-US" sz="2244">
                <a:solidFill>
                  <a:srgbClr val="5B5F71"/>
                </a:solidFill>
                <a:latin typeface="Arimo"/>
                <a:ea typeface="Arimo"/>
                <a:cs typeface="Arimo"/>
                <a:sym typeface="Arimo"/>
              </a:rPr>
              <a:t>Validación completa del sistema mediante 12 casos de prueba</a:t>
            </a:r>
          </a:p>
          <a:p>
            <a:pPr marL="338495" lvl="1" indent="-169248" algn="l">
              <a:lnSpc>
                <a:spcPts val="3400"/>
              </a:lnSpc>
              <a:buFont typeface="Arial"/>
              <a:buChar char="•"/>
            </a:pPr>
            <a:r>
              <a:rPr lang="en-US" sz="2244">
                <a:solidFill>
                  <a:srgbClr val="5B5F71"/>
                </a:solidFill>
                <a:latin typeface="Arimo"/>
                <a:ea typeface="Arimo"/>
                <a:cs typeface="Arimo"/>
                <a:sym typeface="Arimo"/>
              </a:rPr>
              <a:t>Corrección de detalles identificados antes del evento</a:t>
            </a:r>
          </a:p>
          <a:p>
            <a:pPr marL="338495" lvl="1" indent="-169248" algn="l">
              <a:lnSpc>
                <a:spcPts val="3400"/>
              </a:lnSpc>
              <a:buFont typeface="Arial"/>
              <a:buChar char="•"/>
            </a:pPr>
            <a:r>
              <a:rPr lang="en-US" sz="2244">
                <a:solidFill>
                  <a:srgbClr val="5B5F71"/>
                </a:solidFill>
                <a:latin typeface="Arimo"/>
                <a:ea typeface="Arimo"/>
                <a:cs typeface="Arimo"/>
                <a:sym typeface="Arimo"/>
              </a:rPr>
              <a:t>Arquitectura serverless eficiente y confiable</a:t>
            </a:r>
          </a:p>
          <a:p>
            <a:pPr marL="338495" lvl="1" indent="-169248" algn="l">
              <a:lnSpc>
                <a:spcPts val="3400"/>
              </a:lnSpc>
              <a:buFont typeface="Arial"/>
              <a:buChar char="•"/>
            </a:pPr>
            <a:r>
              <a:rPr lang="en-US" sz="2244">
                <a:solidFill>
                  <a:srgbClr val="5B5F71"/>
                </a:solidFill>
                <a:latin typeface="Arimo"/>
                <a:ea typeface="Arimo"/>
                <a:cs typeface="Arimo"/>
                <a:sym typeface="Arimo"/>
              </a:rPr>
              <a:t>Capacitación diferenciada exitosa por tipo de usuario</a:t>
            </a:r>
          </a:p>
        </p:txBody>
      </p:sp>
      <p:grpSp>
        <p:nvGrpSpPr>
          <p:cNvPr id="8" name="Group 8"/>
          <p:cNvGrpSpPr/>
          <p:nvPr/>
        </p:nvGrpSpPr>
        <p:grpSpPr>
          <a:xfrm>
            <a:off x="11192223" y="5013367"/>
            <a:ext cx="5284250" cy="4849390"/>
            <a:chOff x="0" y="0"/>
            <a:chExt cx="6474422" cy="5941619"/>
          </a:xfrm>
        </p:grpSpPr>
        <p:sp>
          <p:nvSpPr>
            <p:cNvPr id="9" name="Freeform 9"/>
            <p:cNvSpPr/>
            <p:nvPr/>
          </p:nvSpPr>
          <p:spPr>
            <a:xfrm>
              <a:off x="0" y="0"/>
              <a:ext cx="6474460" cy="5941568"/>
            </a:xfrm>
            <a:custGeom>
              <a:avLst/>
              <a:gdLst/>
              <a:ahLst/>
              <a:cxnLst/>
              <a:rect l="l" t="t" r="r" b="b"/>
              <a:pathLst>
                <a:path w="6474460" h="5941568">
                  <a:moveTo>
                    <a:pt x="0" y="251460"/>
                  </a:moveTo>
                  <a:cubicBezTo>
                    <a:pt x="0" y="112522"/>
                    <a:pt x="112522" y="0"/>
                    <a:pt x="251460" y="0"/>
                  </a:cubicBezTo>
                  <a:lnTo>
                    <a:pt x="6223000" y="0"/>
                  </a:lnTo>
                  <a:cubicBezTo>
                    <a:pt x="6361811" y="0"/>
                    <a:pt x="6474460" y="112522"/>
                    <a:pt x="6474460" y="251460"/>
                  </a:cubicBezTo>
                  <a:lnTo>
                    <a:pt x="6474460" y="5690108"/>
                  </a:lnTo>
                  <a:cubicBezTo>
                    <a:pt x="6474460" y="5828919"/>
                    <a:pt x="6361938" y="5941568"/>
                    <a:pt x="6223000" y="5941568"/>
                  </a:cubicBezTo>
                  <a:lnTo>
                    <a:pt x="251460" y="5941568"/>
                  </a:lnTo>
                  <a:cubicBezTo>
                    <a:pt x="112649" y="5941568"/>
                    <a:pt x="0" y="5829046"/>
                    <a:pt x="0" y="5690108"/>
                  </a:cubicBezTo>
                  <a:close/>
                </a:path>
              </a:pathLst>
            </a:custGeom>
            <a:solidFill>
              <a:srgbClr val="505468">
                <a:alpha val="90196"/>
              </a:srgbClr>
            </a:solidFill>
          </p:spPr>
        </p:sp>
      </p:grpSp>
      <p:sp>
        <p:nvSpPr>
          <p:cNvPr id="10" name="TextBox 10"/>
          <p:cNvSpPr txBox="1"/>
          <p:nvPr/>
        </p:nvSpPr>
        <p:spPr>
          <a:xfrm>
            <a:off x="11477271" y="5248136"/>
            <a:ext cx="3563106" cy="473966"/>
          </a:xfrm>
          <a:prstGeom prst="rect">
            <a:avLst/>
          </a:prstGeom>
        </p:spPr>
        <p:txBody>
          <a:bodyPr lIns="0" tIns="0" rIns="0" bIns="0" rtlCol="0" anchor="t">
            <a:spAutoFit/>
          </a:bodyPr>
          <a:lstStyle/>
          <a:p>
            <a:pPr algn="l">
              <a:lnSpc>
                <a:spcPts val="3468"/>
              </a:lnSpc>
            </a:pPr>
            <a:r>
              <a:rPr lang="en-US" sz="2788" b="1">
                <a:solidFill>
                  <a:srgbClr val="FFFFFF"/>
                </a:solidFill>
                <a:latin typeface="Arimo Bold"/>
                <a:ea typeface="Arimo Bold"/>
                <a:cs typeface="Arimo Bold"/>
                <a:sym typeface="Arimo Bold"/>
              </a:rPr>
              <a:t>Impacto Real</a:t>
            </a:r>
          </a:p>
        </p:txBody>
      </p:sp>
      <p:sp>
        <p:nvSpPr>
          <p:cNvPr id="11" name="TextBox 11"/>
          <p:cNvSpPr txBox="1"/>
          <p:nvPr/>
        </p:nvSpPr>
        <p:spPr>
          <a:xfrm>
            <a:off x="11477271" y="5899720"/>
            <a:ext cx="4714153" cy="2717241"/>
          </a:xfrm>
          <a:prstGeom prst="rect">
            <a:avLst/>
          </a:prstGeom>
        </p:spPr>
        <p:txBody>
          <a:bodyPr lIns="0" tIns="0" rIns="0" bIns="0" rtlCol="0" anchor="t">
            <a:spAutoFit/>
          </a:bodyPr>
          <a:lstStyle/>
          <a:p>
            <a:pPr algn="l">
              <a:lnSpc>
                <a:spcPts val="3400"/>
              </a:lnSpc>
            </a:pPr>
            <a:r>
              <a:rPr lang="en-US" sz="2244">
                <a:solidFill>
                  <a:srgbClr val="FFFFFF"/>
                </a:solidFill>
                <a:latin typeface="Arimo"/>
                <a:ea typeface="Arimo"/>
                <a:cs typeface="Arimo"/>
                <a:sym typeface="Arimo"/>
              </a:rPr>
              <a:t>El personal de acceso operó el escáner QR durante todo el evento sin incidencias, el dashboard actualizó estadísticas en tiempo real y los invitados accedieron con agilidad mediante sus códigos QR.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1485</Words>
  <Application>Microsoft Office PowerPoint</Application>
  <PresentationFormat>Personalizado</PresentationFormat>
  <Paragraphs>177</Paragraphs>
  <Slides>11</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Montserrat Bold</vt:lpstr>
      <vt:lpstr>Arimo</vt:lpstr>
      <vt:lpstr>Arimo Bold</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Act_4.3_IDS_Ejercicios_Amaury-Gordillo</dc:title>
  <cp:lastModifiedBy>amaury rokete</cp:lastModifiedBy>
  <cp:revision>3</cp:revision>
  <dcterms:created xsi:type="dcterms:W3CDTF">2006-08-16T00:00:00Z</dcterms:created>
  <dcterms:modified xsi:type="dcterms:W3CDTF">2026-03-27T07:19:43Z</dcterms:modified>
  <dc:identifier>DAHEiSqQ6hY</dc:identifier>
</cp:coreProperties>
</file>